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ounded Rectangle 1"/>
          <p:cNvSpPr/>
          <p:nvPr/>
        </p:nvSpPr>
        <p:spPr>
          <a:xfrm>
            <a:off x="411480" y="320040"/>
            <a:ext cx="11338560" cy="621792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3291840" cy="292608"/>
          </a:xfrm>
          <a:prstGeom prst="rect">
            <a:avLst/>
          </a:prstGeom>
          <a:noFill/>
        </p:spPr>
        <p:txBody>
          <a:bodyPr wrap="square">
            <a:spAutoFit/>
          </a:bodyPr>
          <a:lstStyle/>
          <a:p>
            <a:pPr algn="l"/>
            <a:r>
              <a:rPr sz="1200" b="1">
                <a:solidFill>
                  <a:srgbClr val="7A664B"/>
                </a:solidFill>
                <a:latin typeface="Aptos"/>
              </a:rPr>
              <a:t>UM Hackathon 2026 | Domain 2</a:t>
            </a:r>
          </a:p>
        </p:txBody>
      </p:sp>
      <p:sp>
        <p:nvSpPr>
          <p:cNvPr id="4" name="TextBox 3"/>
          <p:cNvSpPr txBox="1"/>
          <p:nvPr/>
        </p:nvSpPr>
        <p:spPr>
          <a:xfrm>
            <a:off x="777240" y="960120"/>
            <a:ext cx="4754880" cy="1234440"/>
          </a:xfrm>
          <a:prstGeom prst="rect">
            <a:avLst/>
          </a:prstGeom>
          <a:noFill/>
        </p:spPr>
        <p:txBody>
          <a:bodyPr wrap="square">
            <a:spAutoFit/>
          </a:bodyPr>
          <a:lstStyle/>
          <a:p>
            <a:pPr algn="l"/>
            <a:r>
              <a:rPr sz="3000" b="1">
                <a:solidFill>
                  <a:srgbClr val="23201C"/>
                </a:solidFill>
                <a:latin typeface="Aptos Display"/>
              </a:rPr>
              <a:t>ASEM Talint</a:t>
            </a:r>
          </a:p>
        </p:txBody>
      </p:sp>
      <p:sp>
        <p:nvSpPr>
          <p:cNvPr id="5" name="TextBox 4"/>
          <p:cNvSpPr txBox="1"/>
          <p:nvPr/>
        </p:nvSpPr>
        <p:spPr>
          <a:xfrm>
            <a:off x="777240" y="1847088"/>
            <a:ext cx="4754880" cy="1097280"/>
          </a:xfrm>
          <a:prstGeom prst="rect">
            <a:avLst/>
          </a:prstGeom>
          <a:noFill/>
        </p:spPr>
        <p:txBody>
          <a:bodyPr wrap="square">
            <a:spAutoFit/>
          </a:bodyPr>
          <a:lstStyle/>
          <a:p>
            <a:pPr algn="l"/>
            <a:r>
              <a:rPr sz="2000" b="1">
                <a:solidFill>
                  <a:srgbClr val="2D2A26"/>
                </a:solidFill>
                <a:latin typeface="Aptos"/>
              </a:rPr>
              <a:t>Dashboard-first semiconductor talent decision intelligence</a:t>
            </a:r>
          </a:p>
        </p:txBody>
      </p:sp>
      <p:sp>
        <p:nvSpPr>
          <p:cNvPr id="6" name="TextBox 5"/>
          <p:cNvSpPr txBox="1"/>
          <p:nvPr/>
        </p:nvSpPr>
        <p:spPr>
          <a:xfrm>
            <a:off x="777240" y="2606040"/>
            <a:ext cx="4572000" cy="1737360"/>
          </a:xfrm>
          <a:prstGeom prst="rect">
            <a:avLst/>
          </a:prstGeom>
          <a:noFill/>
        </p:spPr>
        <p:txBody>
          <a:bodyPr wrap="square">
            <a:spAutoFit/>
          </a:bodyPr>
          <a:lstStyle/>
          <a:p>
            <a:pPr>
              <a:spcAft>
                <a:spcPts val="600"/>
              </a:spcAft>
              <a:defRPr sz="1600">
                <a:solidFill>
                  <a:srgbClr val="23201C"/>
                </a:solidFill>
                <a:latin typeface="Aptos"/>
              </a:defRPr>
            </a:pPr>
            <a:r>
              <a:t>Deterministic readiness scoring plus Z.AI GLM structured reasoning</a:t>
            </a:r>
          </a:p>
          <a:p>
            <a:pPr>
              <a:spcAft>
                <a:spcPts val="600"/>
              </a:spcAft>
              <a:defRPr sz="1600">
                <a:solidFill>
                  <a:srgbClr val="23201C"/>
                </a:solidFill>
                <a:latin typeface="Aptos"/>
              </a:defRPr>
            </a:pPr>
            <a:r>
              <a:t>Built for training-path fit, evidence review, and market-context visibility</a:t>
            </a:r>
          </a:p>
          <a:p>
            <a:pPr>
              <a:spcAft>
                <a:spcPts val="600"/>
              </a:spcAft>
              <a:defRPr sz="1600">
                <a:solidFill>
                  <a:srgbClr val="23201C"/>
                </a:solidFill>
                <a:latin typeface="Aptos"/>
              </a:defRPr>
            </a:pPr>
            <a:r>
              <a:t>Team Novum: Ong Khai Sern (team leader), Tan Eng Feng (team member)</a:t>
            </a:r>
          </a:p>
        </p:txBody>
      </p:sp>
      <p:sp>
        <p:nvSpPr>
          <p:cNvPr id="7" name="Rounded Rectangle 6"/>
          <p:cNvSpPr/>
          <p:nvPr/>
        </p:nvSpPr>
        <p:spPr>
          <a:xfrm>
            <a:off x="5577840" y="713232"/>
            <a:ext cx="5577840" cy="50292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shboard-home.png"/>
          <p:cNvPicPr>
            <a:picLocks noChangeAspect="1"/>
          </p:cNvPicPr>
          <p:nvPr/>
        </p:nvPicPr>
        <p:blipFill>
          <a:blip r:embed="rId2"/>
          <a:stretch>
            <a:fillRect/>
          </a:stretch>
        </p:blipFill>
        <p:spPr>
          <a:xfrm>
            <a:off x="5669280" y="1537335"/>
            <a:ext cx="5394960" cy="3371850"/>
          </a:xfrm>
          <a:prstGeom prst="rect">
            <a:avLst/>
          </a:prstGeom>
        </p:spPr>
      </p:pic>
      <p:sp>
        <p:nvSpPr>
          <p:cNvPr id="9" name="Rounded Rectangle 8"/>
          <p:cNvSpPr/>
          <p:nvPr/>
        </p:nvSpPr>
        <p:spPr>
          <a:xfrm>
            <a:off x="777240" y="4800600"/>
            <a:ext cx="4572000" cy="73152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5010912"/>
            <a:ext cx="4206240" cy="292608"/>
          </a:xfrm>
          <a:prstGeom prst="rect">
            <a:avLst/>
          </a:prstGeom>
          <a:noFill/>
        </p:spPr>
        <p:txBody>
          <a:bodyPr wrap="square">
            <a:spAutoFit/>
          </a:bodyPr>
          <a:lstStyle/>
          <a:p>
            <a:pPr algn="l"/>
            <a:r>
              <a:rPr sz="1400" b="1">
                <a:solidFill>
                  <a:srgbClr val="2D2A26"/>
                </a:solidFill>
                <a:latin typeface="Aptos"/>
              </a:rPr>
              <a:t>One place to read the candidate clearly, with live market context and auditable AI explanation.</a:t>
            </a:r>
          </a:p>
        </p:txBody>
      </p:sp>
      <p:sp>
        <p:nvSpPr>
          <p:cNvPr id="11" name="TextBox 10"/>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ASEM Talint preliminary deck | Team Novum | Local prototype screenshots from current build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2</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Problem: placement decisions are still fragmented</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Show domain fit, not just technical ambition.</a:t>
            </a:r>
          </a:p>
        </p:txBody>
      </p:sp>
      <p:sp>
        <p:nvSpPr>
          <p:cNvPr id="5" name="Rounded Rectangle 4"/>
          <p:cNvSpPr/>
          <p:nvPr/>
        </p:nvSpPr>
        <p:spPr>
          <a:xfrm>
            <a:off x="640080" y="1417320"/>
            <a:ext cx="3657600" cy="429768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545336"/>
            <a:ext cx="3328416" cy="256032"/>
          </a:xfrm>
          <a:prstGeom prst="rect">
            <a:avLst/>
          </a:prstGeom>
          <a:noFill/>
        </p:spPr>
        <p:txBody>
          <a:bodyPr wrap="square">
            <a:spAutoFit/>
          </a:bodyPr>
          <a:lstStyle/>
          <a:p>
            <a:pPr algn="l"/>
            <a:r>
              <a:rPr sz="1100" b="1">
                <a:solidFill>
                  <a:srgbClr val="7A664B"/>
                </a:solidFill>
                <a:latin typeface="Aptos"/>
              </a:rPr>
              <a:t>What breaks today</a:t>
            </a:r>
          </a:p>
        </p:txBody>
      </p:sp>
      <p:sp>
        <p:nvSpPr>
          <p:cNvPr id="7" name="TextBox 6"/>
          <p:cNvSpPr txBox="1"/>
          <p:nvPr/>
        </p:nvSpPr>
        <p:spPr>
          <a:xfrm>
            <a:off x="804672" y="1856232"/>
            <a:ext cx="3364992" cy="3785616"/>
          </a:xfrm>
          <a:prstGeom prst="rect">
            <a:avLst/>
          </a:prstGeom>
          <a:noFill/>
        </p:spPr>
        <p:txBody>
          <a:bodyPr wrap="square">
            <a:spAutoFit/>
          </a:bodyPr>
          <a:lstStyle/>
          <a:p>
            <a:pPr>
              <a:spcAft>
                <a:spcPts val="600"/>
              </a:spcAft>
              <a:defRPr sz="1400">
                <a:solidFill>
                  <a:srgbClr val="23201C"/>
                </a:solidFill>
                <a:latin typeface="Aptos"/>
              </a:defRPr>
            </a:pPr>
            <a:r>
              <a:t>Candidate-to-track decisions are still reviewed manually and inconsistently.</a:t>
            </a:r>
          </a:p>
          <a:p>
            <a:pPr>
              <a:spcAft>
                <a:spcPts val="600"/>
              </a:spcAft>
              <a:defRPr sz="1400">
                <a:solidFill>
                  <a:srgbClr val="23201C"/>
                </a:solidFill>
                <a:latin typeface="Aptos"/>
              </a:defRPr>
            </a:pPr>
            <a:r>
              <a:t>Missing inputs, access constraints, and labor-market context are often separated.</a:t>
            </a:r>
          </a:p>
          <a:p>
            <a:pPr>
              <a:spcAft>
                <a:spcPts val="600"/>
              </a:spcAft>
              <a:defRPr sz="1400">
                <a:solidFill>
                  <a:srgbClr val="23201C"/>
                </a:solidFill>
                <a:latin typeface="Aptos"/>
              </a:defRPr>
            </a:pPr>
            <a:r>
              <a:t>Pathway decisions should connect training to real economic outcomes, not only admissions workflow.</a:t>
            </a:r>
          </a:p>
        </p:txBody>
      </p:sp>
      <p:sp>
        <p:nvSpPr>
          <p:cNvPr id="8" name="Rounded Rectangle 7"/>
          <p:cNvSpPr/>
          <p:nvPr/>
        </p:nvSpPr>
        <p:spPr>
          <a:xfrm>
            <a:off x="4480560" y="1417320"/>
            <a:ext cx="3154680" cy="429768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545336"/>
            <a:ext cx="2825496" cy="256032"/>
          </a:xfrm>
          <a:prstGeom prst="rect">
            <a:avLst/>
          </a:prstGeom>
          <a:noFill/>
        </p:spPr>
        <p:txBody>
          <a:bodyPr wrap="square">
            <a:spAutoFit/>
          </a:bodyPr>
          <a:lstStyle/>
          <a:p>
            <a:pPr algn="l"/>
            <a:r>
              <a:rPr sz="1100" b="1">
                <a:solidFill>
                  <a:srgbClr val="7A664B"/>
                </a:solidFill>
                <a:latin typeface="Aptos"/>
              </a:rPr>
              <a:t>Why it matters</a:t>
            </a:r>
          </a:p>
        </p:txBody>
      </p:sp>
      <p:sp>
        <p:nvSpPr>
          <p:cNvPr id="10" name="TextBox 9"/>
          <p:cNvSpPr txBox="1"/>
          <p:nvPr/>
        </p:nvSpPr>
        <p:spPr>
          <a:xfrm>
            <a:off x="4645152" y="1856232"/>
            <a:ext cx="2862072" cy="3785616"/>
          </a:xfrm>
          <a:prstGeom prst="rect">
            <a:avLst/>
          </a:prstGeom>
          <a:noFill/>
        </p:spPr>
        <p:txBody>
          <a:bodyPr wrap="square">
            <a:spAutoFit/>
          </a:bodyPr>
          <a:lstStyle/>
          <a:p>
            <a:pPr>
              <a:spcAft>
                <a:spcPts val="600"/>
              </a:spcAft>
              <a:defRPr sz="1400">
                <a:solidFill>
                  <a:srgbClr val="23201C"/>
                </a:solidFill>
                <a:latin typeface="Aptos"/>
              </a:defRPr>
            </a:pPr>
            <a:r>
              <a:t>Semiconductor pathways require scarce seats, scarce OJT capacity, and better matching discipline.</a:t>
            </a:r>
          </a:p>
          <a:p>
            <a:pPr>
              <a:spcAft>
                <a:spcPts val="600"/>
              </a:spcAft>
              <a:defRPr sz="1400">
                <a:solidFill>
                  <a:srgbClr val="23201C"/>
                </a:solidFill>
                <a:latin typeface="Aptos"/>
              </a:defRPr>
            </a:pPr>
            <a:r>
              <a:t>Reviewers need auditable evidence, not a generic chat response.</a:t>
            </a:r>
          </a:p>
          <a:p>
            <a:pPr>
              <a:spcAft>
                <a:spcPts val="600"/>
              </a:spcAft>
              <a:defRPr sz="1400">
                <a:solidFill>
                  <a:srgbClr val="23201C"/>
                </a:solidFill>
                <a:latin typeface="Aptos"/>
              </a:defRPr>
            </a:pPr>
            <a:r>
              <a:t>Malaysia's industrial push makes local-value pathway allocation more strategic.</a:t>
            </a:r>
          </a:p>
        </p:txBody>
      </p:sp>
      <p:sp>
        <p:nvSpPr>
          <p:cNvPr id="11" name="Rounded Rectangle 10"/>
          <p:cNvSpPr/>
          <p:nvPr/>
        </p:nvSpPr>
        <p:spPr>
          <a:xfrm>
            <a:off x="7818120" y="1417320"/>
            <a:ext cx="3703320" cy="4297680"/>
          </a:xfrm>
          <a:prstGeom prst="roundRect">
            <a:avLst/>
          </a:prstGeom>
          <a:solidFill>
            <a:srgbClr val="FFF8EF"/>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82712" y="1545336"/>
            <a:ext cx="3374136" cy="256032"/>
          </a:xfrm>
          <a:prstGeom prst="rect">
            <a:avLst/>
          </a:prstGeom>
          <a:noFill/>
        </p:spPr>
        <p:txBody>
          <a:bodyPr wrap="square">
            <a:spAutoFit/>
          </a:bodyPr>
          <a:lstStyle/>
          <a:p>
            <a:pPr algn="l"/>
            <a:r>
              <a:rPr sz="1100" b="1">
                <a:solidFill>
                  <a:srgbClr val="7A664B"/>
                </a:solidFill>
                <a:latin typeface="Aptos"/>
              </a:rPr>
              <a:t>Our response</a:t>
            </a:r>
          </a:p>
        </p:txBody>
      </p:sp>
      <p:sp>
        <p:nvSpPr>
          <p:cNvPr id="13" name="TextBox 12"/>
          <p:cNvSpPr txBox="1"/>
          <p:nvPr/>
        </p:nvSpPr>
        <p:spPr>
          <a:xfrm>
            <a:off x="7982712" y="1856232"/>
            <a:ext cx="3410712" cy="3785616"/>
          </a:xfrm>
          <a:prstGeom prst="rect">
            <a:avLst/>
          </a:prstGeom>
          <a:noFill/>
        </p:spPr>
        <p:txBody>
          <a:bodyPr wrap="square">
            <a:spAutoFit/>
          </a:bodyPr>
          <a:lstStyle/>
          <a:p>
            <a:pPr>
              <a:spcAft>
                <a:spcPts val="600"/>
              </a:spcAft>
              <a:defRPr sz="1400">
                <a:solidFill>
                  <a:srgbClr val="23201C"/>
                </a:solidFill>
                <a:latin typeface="Aptos"/>
              </a:defRPr>
            </a:pPr>
            <a:r>
              <a:t>Standardize candidate evidence.</a:t>
            </a:r>
          </a:p>
          <a:p>
            <a:pPr>
              <a:spcAft>
                <a:spcPts val="600"/>
              </a:spcAft>
              <a:defRPr sz="1400">
                <a:solidFill>
                  <a:srgbClr val="23201C"/>
                </a:solidFill>
                <a:latin typeface="Aptos"/>
              </a:defRPr>
            </a:pPr>
            <a:r>
              <a:t>Combine deterministic scoring with official data slices.</a:t>
            </a:r>
          </a:p>
          <a:p>
            <a:pPr>
              <a:spcAft>
                <a:spcPts val="600"/>
              </a:spcAft>
              <a:defRPr sz="1400">
                <a:solidFill>
                  <a:srgbClr val="23201C"/>
                </a:solidFill>
                <a:latin typeface="Aptos"/>
              </a:defRPr>
            </a:pPr>
            <a:r>
              <a:t>Use Z.AI GLM for structured explanation on the judged path.</a:t>
            </a:r>
          </a:p>
        </p:txBody>
      </p:sp>
      <p:sp>
        <p:nvSpPr>
          <p:cNvPr id="14" name="TextBox 13"/>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Citations: UMHackathon Domain 2 brief; UMHackathon 2026 Judging Criteria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3</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Economic theory: what friction we reduce</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Anchor the product in economic logic, not only features.</a:t>
            </a:r>
          </a:p>
        </p:txBody>
      </p:sp>
      <p:sp>
        <p:nvSpPr>
          <p:cNvPr id="5" name="Rounded Rectangle 4"/>
          <p:cNvSpPr/>
          <p:nvPr/>
        </p:nvSpPr>
        <p:spPr>
          <a:xfrm>
            <a:off x="640080" y="1463040"/>
            <a:ext cx="5394960" cy="141732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645920"/>
            <a:ext cx="4937760" cy="320040"/>
          </a:xfrm>
          <a:prstGeom prst="rect">
            <a:avLst/>
          </a:prstGeom>
          <a:noFill/>
        </p:spPr>
        <p:txBody>
          <a:bodyPr wrap="square">
            <a:spAutoFit/>
          </a:bodyPr>
          <a:lstStyle/>
          <a:p>
            <a:pPr algn="l"/>
            <a:r>
              <a:rPr sz="1800" b="1">
                <a:solidFill>
                  <a:srgbClr val="2D2A26"/>
                </a:solidFill>
                <a:latin typeface="Aptos"/>
              </a:rPr>
              <a:t>Human capital allocation</a:t>
            </a:r>
          </a:p>
        </p:txBody>
      </p:sp>
      <p:sp>
        <p:nvSpPr>
          <p:cNvPr id="7" name="TextBox 6"/>
          <p:cNvSpPr txBox="1"/>
          <p:nvPr/>
        </p:nvSpPr>
        <p:spPr>
          <a:xfrm>
            <a:off x="841247" y="2066544"/>
            <a:ext cx="4892040" cy="475488"/>
          </a:xfrm>
          <a:prstGeom prst="rect">
            <a:avLst/>
          </a:prstGeom>
          <a:noFill/>
        </p:spPr>
        <p:txBody>
          <a:bodyPr wrap="square">
            <a:spAutoFit/>
          </a:bodyPr>
          <a:lstStyle/>
          <a:p>
            <a:pPr algn="l"/>
            <a:r>
              <a:rPr sz="1400" b="0">
                <a:solidFill>
                  <a:srgbClr val="6B655E"/>
                </a:solidFill>
                <a:latin typeface="Aptos"/>
              </a:rPr>
              <a:t>Training seats and OJT slots are scarce investments.</a:t>
            </a:r>
          </a:p>
        </p:txBody>
      </p:sp>
      <p:sp>
        <p:nvSpPr>
          <p:cNvPr id="8" name="Rounded Rectangle 7"/>
          <p:cNvSpPr/>
          <p:nvPr/>
        </p:nvSpPr>
        <p:spPr>
          <a:xfrm>
            <a:off x="6126480" y="1463040"/>
            <a:ext cx="5394960" cy="141732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27648" y="1645920"/>
            <a:ext cx="4937760" cy="320040"/>
          </a:xfrm>
          <a:prstGeom prst="rect">
            <a:avLst/>
          </a:prstGeom>
          <a:noFill/>
        </p:spPr>
        <p:txBody>
          <a:bodyPr wrap="square">
            <a:spAutoFit/>
          </a:bodyPr>
          <a:lstStyle/>
          <a:p>
            <a:pPr algn="l"/>
            <a:r>
              <a:rPr sz="1800" b="1">
                <a:solidFill>
                  <a:srgbClr val="2D2A26"/>
                </a:solidFill>
                <a:latin typeface="Aptos"/>
              </a:rPr>
              <a:t>Signaling and information asymmetry</a:t>
            </a:r>
          </a:p>
        </p:txBody>
      </p:sp>
      <p:sp>
        <p:nvSpPr>
          <p:cNvPr id="10" name="TextBox 9"/>
          <p:cNvSpPr txBox="1"/>
          <p:nvPr/>
        </p:nvSpPr>
        <p:spPr>
          <a:xfrm>
            <a:off x="6327648" y="2066544"/>
            <a:ext cx="4892040" cy="475488"/>
          </a:xfrm>
          <a:prstGeom prst="rect">
            <a:avLst/>
          </a:prstGeom>
          <a:noFill/>
        </p:spPr>
        <p:txBody>
          <a:bodyPr wrap="square">
            <a:spAutoFit/>
          </a:bodyPr>
          <a:lstStyle/>
          <a:p>
            <a:pPr algn="l"/>
            <a:r>
              <a:rPr sz="1400" b="0">
                <a:solidFill>
                  <a:srgbClr val="6B655E"/>
                </a:solidFill>
                <a:latin typeface="Aptos"/>
              </a:rPr>
              <a:t>Resumes and credentials are noisy until structured.</a:t>
            </a:r>
          </a:p>
        </p:txBody>
      </p:sp>
      <p:sp>
        <p:nvSpPr>
          <p:cNvPr id="11" name="Rounded Rectangle 10"/>
          <p:cNvSpPr/>
          <p:nvPr/>
        </p:nvSpPr>
        <p:spPr>
          <a:xfrm>
            <a:off x="640080" y="3246120"/>
            <a:ext cx="5394960" cy="141732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3429000"/>
            <a:ext cx="4937760" cy="320040"/>
          </a:xfrm>
          <a:prstGeom prst="rect">
            <a:avLst/>
          </a:prstGeom>
          <a:noFill/>
        </p:spPr>
        <p:txBody>
          <a:bodyPr wrap="square">
            <a:spAutoFit/>
          </a:bodyPr>
          <a:lstStyle/>
          <a:p>
            <a:pPr algn="l"/>
            <a:r>
              <a:rPr sz="1800" b="1">
                <a:solidFill>
                  <a:srgbClr val="2D2A26"/>
                </a:solidFill>
                <a:latin typeface="Aptos"/>
              </a:rPr>
              <a:t>Search and matching frictions</a:t>
            </a:r>
          </a:p>
        </p:txBody>
      </p:sp>
      <p:sp>
        <p:nvSpPr>
          <p:cNvPr id="13" name="TextBox 12"/>
          <p:cNvSpPr txBox="1"/>
          <p:nvPr/>
        </p:nvSpPr>
        <p:spPr>
          <a:xfrm>
            <a:off x="841247" y="3849624"/>
            <a:ext cx="4892040" cy="475488"/>
          </a:xfrm>
          <a:prstGeom prst="rect">
            <a:avLst/>
          </a:prstGeom>
          <a:noFill/>
        </p:spPr>
        <p:txBody>
          <a:bodyPr wrap="square">
            <a:spAutoFit/>
          </a:bodyPr>
          <a:lstStyle/>
          <a:p>
            <a:pPr algn="l"/>
            <a:r>
              <a:rPr sz="1400" b="0">
                <a:solidFill>
                  <a:srgbClr val="6B655E"/>
                </a:solidFill>
                <a:latin typeface="Aptos"/>
              </a:rPr>
              <a:t>Candidate, track, and employer fit must be aligned.</a:t>
            </a:r>
          </a:p>
        </p:txBody>
      </p:sp>
      <p:sp>
        <p:nvSpPr>
          <p:cNvPr id="14" name="Rounded Rectangle 13"/>
          <p:cNvSpPr/>
          <p:nvPr/>
        </p:nvSpPr>
        <p:spPr>
          <a:xfrm>
            <a:off x="6126480" y="3246120"/>
            <a:ext cx="5394960" cy="141732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3429000"/>
            <a:ext cx="4937760" cy="320040"/>
          </a:xfrm>
          <a:prstGeom prst="rect">
            <a:avLst/>
          </a:prstGeom>
          <a:noFill/>
        </p:spPr>
        <p:txBody>
          <a:bodyPr wrap="square">
            <a:spAutoFit/>
          </a:bodyPr>
          <a:lstStyle/>
          <a:p>
            <a:pPr algn="l"/>
            <a:r>
              <a:rPr sz="1800" b="1">
                <a:solidFill>
                  <a:srgbClr val="2D2A26"/>
                </a:solidFill>
                <a:latin typeface="Aptos"/>
              </a:rPr>
              <a:t>Spatial and wage frictions</a:t>
            </a:r>
          </a:p>
        </p:txBody>
      </p:sp>
      <p:sp>
        <p:nvSpPr>
          <p:cNvPr id="16" name="TextBox 15"/>
          <p:cNvSpPr txBox="1"/>
          <p:nvPr/>
        </p:nvSpPr>
        <p:spPr>
          <a:xfrm>
            <a:off x="6327648" y="3849624"/>
            <a:ext cx="4892040" cy="475488"/>
          </a:xfrm>
          <a:prstGeom prst="rect">
            <a:avLst/>
          </a:prstGeom>
          <a:noFill/>
        </p:spPr>
        <p:txBody>
          <a:bodyPr wrap="square">
            <a:spAutoFit/>
          </a:bodyPr>
          <a:lstStyle/>
          <a:p>
            <a:pPr algn="l"/>
            <a:r>
              <a:rPr sz="1400" b="0">
                <a:solidFill>
                  <a:srgbClr val="6B655E"/>
                </a:solidFill>
                <a:latin typeface="Aptos"/>
              </a:rPr>
              <a:t>Access and economic payoff change pathway quality.</a:t>
            </a:r>
          </a:p>
        </p:txBody>
      </p:sp>
      <p:sp>
        <p:nvSpPr>
          <p:cNvPr id="17" name="Rounded Rectangle 16"/>
          <p:cNvSpPr/>
          <p:nvPr/>
        </p:nvSpPr>
        <p:spPr>
          <a:xfrm>
            <a:off x="640080" y="5102352"/>
            <a:ext cx="10927080" cy="658368"/>
          </a:xfrm>
          <a:prstGeom prst="roundRect">
            <a:avLst/>
          </a:prstGeom>
          <a:solidFill>
            <a:srgbClr val="FFF8EF"/>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340096"/>
            <a:ext cx="10424160" cy="201168"/>
          </a:xfrm>
          <a:prstGeom prst="rect">
            <a:avLst/>
          </a:prstGeom>
          <a:noFill/>
        </p:spPr>
        <p:txBody>
          <a:bodyPr wrap="square">
            <a:spAutoFit/>
          </a:bodyPr>
          <a:lstStyle/>
          <a:p>
            <a:pPr algn="l"/>
            <a:r>
              <a:rPr sz="1400" b="1">
                <a:solidFill>
                  <a:srgbClr val="2D2A26"/>
                </a:solidFill>
                <a:latin typeface="Aptos"/>
              </a:rPr>
              <a:t>Feature mapping: Candidate Lab -&gt; signals | Market Studio/OJT -&gt; matching | GIS accessibility -&gt; spatial friction | Wage mobility -&gt; economic payoff | ERP Bridge -&gt; coordination cost</a:t>
            </a:r>
          </a:p>
        </p:txBody>
      </p:sp>
      <p:sp>
        <p:nvSpPr>
          <p:cNvPr id="19" name="TextBox 18"/>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Economic framing source: submission/preliminary/economic-theory-anchor.md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4</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Why this matters in Malaysia now</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Tie the product to current industrial capability-building logic.</a:t>
            </a:r>
          </a:p>
        </p:txBody>
      </p:sp>
      <p:sp>
        <p:nvSpPr>
          <p:cNvPr id="5" name="Rounded Rectangle 4"/>
          <p:cNvSpPr/>
          <p:nvPr/>
        </p:nvSpPr>
        <p:spPr>
          <a:xfrm>
            <a:off x="640080" y="1444752"/>
            <a:ext cx="4754880" cy="425196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4297680" cy="3474720"/>
          </a:xfrm>
          <a:prstGeom prst="rect">
            <a:avLst/>
          </a:prstGeom>
          <a:noFill/>
        </p:spPr>
        <p:txBody>
          <a:bodyPr wrap="square">
            <a:spAutoFit/>
          </a:bodyPr>
          <a:lstStyle/>
          <a:p>
            <a:pPr>
              <a:spcAft>
                <a:spcPts val="600"/>
              </a:spcAft>
              <a:defRPr sz="1700">
                <a:solidFill>
                  <a:srgbClr val="23201C"/>
                </a:solidFill>
                <a:latin typeface="Aptos"/>
              </a:defRPr>
            </a:pPr>
            <a:r>
              <a:t>"Made by Malaysia" raises the bar for local value creation.</a:t>
            </a:r>
          </a:p>
          <a:p>
            <a:pPr>
              <a:spcAft>
                <a:spcPts val="600"/>
              </a:spcAft>
              <a:defRPr sz="1700">
                <a:solidFill>
                  <a:srgbClr val="23201C"/>
                </a:solidFill>
                <a:latin typeface="Aptos"/>
              </a:defRPr>
            </a:pPr>
            <a:r>
              <a:t>Talent pathways need stronger links to vendors, SMEs, and industry demand.</a:t>
            </a:r>
          </a:p>
          <a:p>
            <a:pPr>
              <a:spcAft>
                <a:spcPts val="600"/>
              </a:spcAft>
              <a:defRPr sz="1700">
                <a:solidFill>
                  <a:srgbClr val="23201C"/>
                </a:solidFill>
                <a:latin typeface="Aptos"/>
              </a:defRPr>
            </a:pPr>
            <a:r>
              <a:t>Training decisions should be explainable, evidence-backed, and fast.</a:t>
            </a:r>
          </a:p>
          <a:p>
            <a:pPr>
              <a:spcAft>
                <a:spcPts val="600"/>
              </a:spcAft>
              <a:defRPr sz="1700">
                <a:solidFill>
                  <a:srgbClr val="23201C"/>
                </a:solidFill>
                <a:latin typeface="Aptos"/>
              </a:defRPr>
            </a:pPr>
            <a:r>
              <a:t>A pathway is stronger when access, wage direction, and employer demand all support it.</a:t>
            </a:r>
          </a:p>
        </p:txBody>
      </p:sp>
      <p:sp>
        <p:nvSpPr>
          <p:cNvPr id="7" name="Rounded Rectangle 6"/>
          <p:cNvSpPr/>
          <p:nvPr/>
        </p:nvSpPr>
        <p:spPr>
          <a:xfrm>
            <a:off x="5623560" y="1444752"/>
            <a:ext cx="5897880" cy="4251960"/>
          </a:xfrm>
          <a:prstGeom prst="roundRect">
            <a:avLst/>
          </a:prstGeom>
          <a:solidFill>
            <a:srgbClr val="FFF8EF"/>
          </a:solidFill>
          <a:ln w="12700">
            <a:solidFill>
              <a:srgbClr val="E6C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810512"/>
            <a:ext cx="5394960" cy="320040"/>
          </a:xfrm>
          <a:prstGeom prst="rect">
            <a:avLst/>
          </a:prstGeom>
          <a:noFill/>
        </p:spPr>
        <p:txBody>
          <a:bodyPr wrap="square">
            <a:spAutoFit/>
          </a:bodyPr>
          <a:lstStyle/>
          <a:p>
            <a:pPr algn="l"/>
            <a:r>
              <a:rPr sz="1200" b="1">
                <a:solidFill>
                  <a:srgbClr val="7A664B"/>
                </a:solidFill>
                <a:latin typeface="Aptos"/>
              </a:rPr>
              <a:t>Malaysia lens</a:t>
            </a:r>
          </a:p>
        </p:txBody>
      </p:sp>
      <p:sp>
        <p:nvSpPr>
          <p:cNvPr id="9" name="TextBox 8"/>
          <p:cNvSpPr txBox="1"/>
          <p:nvPr/>
        </p:nvSpPr>
        <p:spPr>
          <a:xfrm>
            <a:off x="5897880" y="2084831"/>
            <a:ext cx="5257800" cy="822960"/>
          </a:xfrm>
          <a:prstGeom prst="rect">
            <a:avLst/>
          </a:prstGeom>
          <a:noFill/>
        </p:spPr>
        <p:txBody>
          <a:bodyPr wrap="square">
            <a:spAutoFit/>
          </a:bodyPr>
          <a:lstStyle/>
          <a:p>
            <a:pPr algn="l"/>
            <a:r>
              <a:rPr sz="2400" b="1">
                <a:solidFill>
                  <a:srgbClr val="2D2A26"/>
                </a:solidFill>
                <a:latin typeface="Aptos Display"/>
              </a:rPr>
              <a:t>Local capability, not just placement</a:t>
            </a:r>
          </a:p>
        </p:txBody>
      </p:sp>
      <p:sp>
        <p:nvSpPr>
          <p:cNvPr id="10" name="TextBox 9"/>
          <p:cNvSpPr txBox="1"/>
          <p:nvPr/>
        </p:nvSpPr>
        <p:spPr>
          <a:xfrm>
            <a:off x="5897880" y="2852928"/>
            <a:ext cx="5120640" cy="1645920"/>
          </a:xfrm>
          <a:prstGeom prst="rect">
            <a:avLst/>
          </a:prstGeom>
          <a:noFill/>
        </p:spPr>
        <p:txBody>
          <a:bodyPr wrap="square">
            <a:spAutoFit/>
          </a:bodyPr>
          <a:lstStyle/>
          <a:p>
            <a:pPr algn="l"/>
            <a:r>
              <a:rPr sz="1600" b="0">
                <a:solidFill>
                  <a:srgbClr val="6B655E"/>
                </a:solidFill>
                <a:latin typeface="Aptos"/>
              </a:rPr>
              <a:t>The national push is toward stronger local vendors, deeper SME participation, and tighter links between investment, training, and research. ASEM Talint keeps that lens visible while pathway decisions are being made.</a:t>
            </a:r>
          </a:p>
        </p:txBody>
      </p:sp>
      <p:sp>
        <p:nvSpPr>
          <p:cNvPr id="11" name="TextBox 10"/>
          <p:cNvSpPr txBox="1"/>
          <p:nvPr/>
        </p:nvSpPr>
        <p:spPr>
          <a:xfrm>
            <a:off x="5897880" y="4754880"/>
            <a:ext cx="4389120" cy="274320"/>
          </a:xfrm>
          <a:prstGeom prst="rect">
            <a:avLst/>
          </a:prstGeom>
          <a:noFill/>
        </p:spPr>
        <p:txBody>
          <a:bodyPr wrap="square">
            <a:spAutoFit/>
          </a:bodyPr>
          <a:lstStyle/>
          <a:p>
            <a:pPr algn="l"/>
            <a:r>
              <a:rPr sz="1100" b="1">
                <a:solidFill>
                  <a:srgbClr val="D6452D"/>
                </a:solidFill>
                <a:latin typeface="Aptos"/>
              </a:rPr>
              <a:t>NST source, 5 Feb 2026</a:t>
            </a:r>
          </a:p>
        </p:txBody>
      </p:sp>
      <p:sp>
        <p:nvSpPr>
          <p:cNvPr id="12" name="TextBox 11"/>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Citation: New Straits Times, 5 Feb 2026, 'Shift to Made by Malaysia strategy'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5</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Users and decision workflow</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Make the target users and the review loop concrete.</a:t>
            </a:r>
          </a:p>
        </p:txBody>
      </p:sp>
      <p:sp>
        <p:nvSpPr>
          <p:cNvPr id="5" name="Rounded Rectangle 4"/>
          <p:cNvSpPr/>
          <p:nvPr/>
        </p:nvSpPr>
        <p:spPr>
          <a:xfrm>
            <a:off x="640080" y="1508760"/>
            <a:ext cx="3337560" cy="1874519"/>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636776"/>
            <a:ext cx="3008376" cy="256032"/>
          </a:xfrm>
          <a:prstGeom prst="rect">
            <a:avLst/>
          </a:prstGeom>
          <a:noFill/>
        </p:spPr>
        <p:txBody>
          <a:bodyPr wrap="square">
            <a:spAutoFit/>
          </a:bodyPr>
          <a:lstStyle/>
          <a:p>
            <a:pPr algn="l"/>
            <a:r>
              <a:rPr sz="1100" b="1">
                <a:solidFill>
                  <a:srgbClr val="7A664B"/>
                </a:solidFill>
                <a:latin typeface="Aptos"/>
              </a:rPr>
              <a:t>Primary user</a:t>
            </a:r>
          </a:p>
        </p:txBody>
      </p:sp>
      <p:sp>
        <p:nvSpPr>
          <p:cNvPr id="7" name="TextBox 6"/>
          <p:cNvSpPr txBox="1"/>
          <p:nvPr/>
        </p:nvSpPr>
        <p:spPr>
          <a:xfrm>
            <a:off x="804672" y="1947672"/>
            <a:ext cx="3044952" cy="1362455"/>
          </a:xfrm>
          <a:prstGeom prst="rect">
            <a:avLst/>
          </a:prstGeom>
          <a:noFill/>
        </p:spPr>
        <p:txBody>
          <a:bodyPr wrap="square">
            <a:spAutoFit/>
          </a:bodyPr>
          <a:lstStyle/>
          <a:p>
            <a:pPr>
              <a:spcAft>
                <a:spcPts val="600"/>
              </a:spcAft>
              <a:defRPr sz="1400">
                <a:solidFill>
                  <a:srgbClr val="23201C"/>
                </a:solidFill>
                <a:latin typeface="Aptos"/>
              </a:defRPr>
            </a:pPr>
            <a:r>
              <a:t>Training reviewer or program lead</a:t>
            </a:r>
          </a:p>
          <a:p>
            <a:pPr>
              <a:spcAft>
                <a:spcPts val="600"/>
              </a:spcAft>
              <a:defRPr sz="1400">
                <a:solidFill>
                  <a:srgbClr val="23201C"/>
                </a:solidFill>
                <a:latin typeface="Aptos"/>
              </a:defRPr>
            </a:pPr>
            <a:r>
              <a:t>Needs fit, gaps, readiness, and next action in one place</a:t>
            </a:r>
          </a:p>
        </p:txBody>
      </p:sp>
      <p:sp>
        <p:nvSpPr>
          <p:cNvPr id="8" name="Rounded Rectangle 7"/>
          <p:cNvSpPr/>
          <p:nvPr/>
        </p:nvSpPr>
        <p:spPr>
          <a:xfrm>
            <a:off x="640080" y="3611880"/>
            <a:ext cx="3337560" cy="1874519"/>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739896"/>
            <a:ext cx="3008376" cy="256032"/>
          </a:xfrm>
          <a:prstGeom prst="rect">
            <a:avLst/>
          </a:prstGeom>
          <a:noFill/>
        </p:spPr>
        <p:txBody>
          <a:bodyPr wrap="square">
            <a:spAutoFit/>
          </a:bodyPr>
          <a:lstStyle/>
          <a:p>
            <a:pPr algn="l"/>
            <a:r>
              <a:rPr sz="1100" b="1">
                <a:solidFill>
                  <a:srgbClr val="7A664B"/>
                </a:solidFill>
                <a:latin typeface="Aptos"/>
              </a:rPr>
              <a:t>Supporting user</a:t>
            </a:r>
          </a:p>
        </p:txBody>
      </p:sp>
      <p:sp>
        <p:nvSpPr>
          <p:cNvPr id="10" name="TextBox 9"/>
          <p:cNvSpPr txBox="1"/>
          <p:nvPr/>
        </p:nvSpPr>
        <p:spPr>
          <a:xfrm>
            <a:off x="804672" y="4050792"/>
            <a:ext cx="3044952" cy="1362455"/>
          </a:xfrm>
          <a:prstGeom prst="rect">
            <a:avLst/>
          </a:prstGeom>
          <a:noFill/>
        </p:spPr>
        <p:txBody>
          <a:bodyPr wrap="square">
            <a:spAutoFit/>
          </a:bodyPr>
          <a:lstStyle/>
          <a:p>
            <a:pPr>
              <a:spcAft>
                <a:spcPts val="600"/>
              </a:spcAft>
              <a:defRPr sz="1400">
                <a:solidFill>
                  <a:srgbClr val="23201C"/>
                </a:solidFill>
                <a:latin typeface="Aptos"/>
              </a:defRPr>
            </a:pPr>
            <a:r>
              <a:t>Employer-partnership or OJT reviewer</a:t>
            </a:r>
          </a:p>
          <a:p>
            <a:pPr>
              <a:spcAft>
                <a:spcPts val="600"/>
              </a:spcAft>
              <a:defRPr sz="1400">
                <a:solidFill>
                  <a:srgbClr val="23201C"/>
                </a:solidFill>
                <a:latin typeface="Aptos"/>
              </a:defRPr>
            </a:pPr>
            <a:r>
              <a:t>Needs match quality, access, and wage context</a:t>
            </a:r>
          </a:p>
        </p:txBody>
      </p:sp>
      <p:sp>
        <p:nvSpPr>
          <p:cNvPr id="11" name="Rounded Rectangle 10"/>
          <p:cNvSpPr/>
          <p:nvPr/>
        </p:nvSpPr>
        <p:spPr>
          <a:xfrm>
            <a:off x="4389120" y="2011680"/>
            <a:ext cx="155448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2240280"/>
            <a:ext cx="1261872" cy="1554480"/>
          </a:xfrm>
          <a:prstGeom prst="rect">
            <a:avLst/>
          </a:prstGeom>
          <a:noFill/>
        </p:spPr>
        <p:txBody>
          <a:bodyPr wrap="square">
            <a:spAutoFit/>
          </a:bodyPr>
          <a:lstStyle/>
          <a:p>
            <a:pPr algn="l"/>
            <a:r>
              <a:rPr sz="1400" b="1">
                <a:solidFill>
                  <a:srgbClr val="2D2A26"/>
                </a:solidFill>
                <a:latin typeface="Aptos"/>
              </a:rPr>
              <a:t>1. Ingest candidate and track evidence</a:t>
            </a:r>
          </a:p>
        </p:txBody>
      </p:sp>
      <p:sp>
        <p:nvSpPr>
          <p:cNvPr id="13" name="Chevron 12"/>
          <p:cNvSpPr/>
          <p:nvPr/>
        </p:nvSpPr>
        <p:spPr>
          <a:xfrm>
            <a:off x="5870448" y="2743200"/>
            <a:ext cx="256032" cy="566928"/>
          </a:xfrm>
          <a:prstGeom prst="chevron">
            <a:avLst/>
          </a:prstGeom>
          <a:solidFill>
            <a:srgbClr val="F2C94C"/>
          </a:solidFill>
          <a:ln>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44768" y="2011680"/>
            <a:ext cx="155448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2240280"/>
            <a:ext cx="1261872" cy="1554480"/>
          </a:xfrm>
          <a:prstGeom prst="rect">
            <a:avLst/>
          </a:prstGeom>
          <a:noFill/>
        </p:spPr>
        <p:txBody>
          <a:bodyPr wrap="square">
            <a:spAutoFit/>
          </a:bodyPr>
          <a:lstStyle/>
          <a:p>
            <a:pPr algn="l"/>
            <a:r>
              <a:rPr sz="1400" b="1">
                <a:solidFill>
                  <a:srgbClr val="2D2A26"/>
                </a:solidFill>
                <a:latin typeface="Aptos"/>
              </a:rPr>
              <a:t>2. Parse resume and standardize signals</a:t>
            </a:r>
          </a:p>
        </p:txBody>
      </p:sp>
      <p:sp>
        <p:nvSpPr>
          <p:cNvPr id="16" name="Chevron 15"/>
          <p:cNvSpPr/>
          <p:nvPr/>
        </p:nvSpPr>
        <p:spPr>
          <a:xfrm>
            <a:off x="7626096" y="2743200"/>
            <a:ext cx="256032" cy="566928"/>
          </a:xfrm>
          <a:prstGeom prst="chevron">
            <a:avLst/>
          </a:prstGeom>
          <a:solidFill>
            <a:srgbClr val="F2C94C"/>
          </a:solidFill>
          <a:ln>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900416" y="2011680"/>
            <a:ext cx="155448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2240280"/>
            <a:ext cx="1261872" cy="1554480"/>
          </a:xfrm>
          <a:prstGeom prst="rect">
            <a:avLst/>
          </a:prstGeom>
          <a:noFill/>
        </p:spPr>
        <p:txBody>
          <a:bodyPr wrap="square">
            <a:spAutoFit/>
          </a:bodyPr>
          <a:lstStyle/>
          <a:p>
            <a:pPr algn="l"/>
            <a:r>
              <a:rPr sz="1400" b="1">
                <a:solidFill>
                  <a:srgbClr val="2D2A26"/>
                </a:solidFill>
                <a:latin typeface="Aptos"/>
              </a:rPr>
              <a:t>3. Compute deterministic fit and market context</a:t>
            </a:r>
          </a:p>
        </p:txBody>
      </p:sp>
      <p:sp>
        <p:nvSpPr>
          <p:cNvPr id="19" name="Chevron 18"/>
          <p:cNvSpPr/>
          <p:nvPr/>
        </p:nvSpPr>
        <p:spPr>
          <a:xfrm>
            <a:off x="9381744" y="2743200"/>
            <a:ext cx="256032" cy="566928"/>
          </a:xfrm>
          <a:prstGeom prst="chevron">
            <a:avLst/>
          </a:prstGeom>
          <a:solidFill>
            <a:srgbClr val="F2C94C"/>
          </a:solidFill>
          <a:ln>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56063" y="2011680"/>
            <a:ext cx="155448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02367" y="2240280"/>
            <a:ext cx="1261872" cy="1554480"/>
          </a:xfrm>
          <a:prstGeom prst="rect">
            <a:avLst/>
          </a:prstGeom>
          <a:noFill/>
        </p:spPr>
        <p:txBody>
          <a:bodyPr wrap="square">
            <a:spAutoFit/>
          </a:bodyPr>
          <a:lstStyle/>
          <a:p>
            <a:pPr algn="l"/>
            <a:r>
              <a:rPr sz="1400" b="1">
                <a:solidFill>
                  <a:srgbClr val="2D2A26"/>
                </a:solidFill>
                <a:latin typeface="Aptos"/>
              </a:rPr>
              <a:t>4. Use Z.AI GLM to generate structured explanation</a:t>
            </a:r>
          </a:p>
        </p:txBody>
      </p:sp>
      <p:sp>
        <p:nvSpPr>
          <p:cNvPr id="22" name="TextBox 21"/>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Workflow source: PRD, pitch deck outline, and current live prototype flow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6</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MVP scope and product surfaces</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Demonstrate feature prioritization and show real snapshots from the current build.</a:t>
            </a:r>
          </a:p>
        </p:txBody>
      </p:sp>
      <p:sp>
        <p:nvSpPr>
          <p:cNvPr id="5" name="Rounded Rectangle 4"/>
          <p:cNvSpPr/>
          <p:nvPr/>
        </p:nvSpPr>
        <p:spPr>
          <a:xfrm>
            <a:off x="640080" y="1463040"/>
            <a:ext cx="3337560" cy="1874519"/>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591056"/>
            <a:ext cx="3008376" cy="256032"/>
          </a:xfrm>
          <a:prstGeom prst="rect">
            <a:avLst/>
          </a:prstGeom>
          <a:noFill/>
        </p:spPr>
        <p:txBody>
          <a:bodyPr wrap="square">
            <a:spAutoFit/>
          </a:bodyPr>
          <a:lstStyle/>
          <a:p>
            <a:pPr algn="l"/>
            <a:r>
              <a:rPr sz="1100" b="1">
                <a:solidFill>
                  <a:srgbClr val="7A664B"/>
                </a:solidFill>
                <a:latin typeface="Aptos"/>
              </a:rPr>
              <a:t>In scope now</a:t>
            </a:r>
          </a:p>
        </p:txBody>
      </p:sp>
      <p:sp>
        <p:nvSpPr>
          <p:cNvPr id="7" name="TextBox 6"/>
          <p:cNvSpPr txBox="1"/>
          <p:nvPr/>
        </p:nvSpPr>
        <p:spPr>
          <a:xfrm>
            <a:off x="804672" y="1901952"/>
            <a:ext cx="3044952" cy="1362455"/>
          </a:xfrm>
          <a:prstGeom prst="rect">
            <a:avLst/>
          </a:prstGeom>
          <a:noFill/>
        </p:spPr>
        <p:txBody>
          <a:bodyPr wrap="square">
            <a:spAutoFit/>
          </a:bodyPr>
          <a:lstStyle/>
          <a:p>
            <a:pPr>
              <a:spcAft>
                <a:spcPts val="600"/>
              </a:spcAft>
              <a:defRPr sz="1400">
                <a:solidFill>
                  <a:srgbClr val="23201C"/>
                </a:solidFill>
                <a:latin typeface="Aptos"/>
              </a:defRPr>
            </a:pPr>
            <a:r>
              <a:t>One candidate-to-track fit workflow</a:t>
            </a:r>
          </a:p>
          <a:p>
            <a:pPr>
              <a:spcAft>
                <a:spcPts val="600"/>
              </a:spcAft>
              <a:defRPr sz="1400">
                <a:solidFill>
                  <a:srgbClr val="23201C"/>
                </a:solidFill>
                <a:latin typeface="Aptos"/>
              </a:defRPr>
            </a:pPr>
            <a:r>
              <a:t>Resume parsing for PDF and DOCX with OCR fallback</a:t>
            </a:r>
          </a:p>
          <a:p>
            <a:pPr>
              <a:spcAft>
                <a:spcPts val="600"/>
              </a:spcAft>
              <a:defRPr sz="1400">
                <a:solidFill>
                  <a:srgbClr val="23201C"/>
                </a:solidFill>
                <a:latin typeface="Aptos"/>
              </a:defRPr>
            </a:pPr>
            <a:r>
              <a:t>Wages, employer demand, accessibility, OJT, and wage-mobility panels</a:t>
            </a:r>
          </a:p>
        </p:txBody>
      </p:sp>
      <p:sp>
        <p:nvSpPr>
          <p:cNvPr id="8" name="Rounded Rectangle 7"/>
          <p:cNvSpPr/>
          <p:nvPr/>
        </p:nvSpPr>
        <p:spPr>
          <a:xfrm>
            <a:off x="640080" y="3611880"/>
            <a:ext cx="3337560" cy="1874519"/>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739896"/>
            <a:ext cx="3008376" cy="256032"/>
          </a:xfrm>
          <a:prstGeom prst="rect">
            <a:avLst/>
          </a:prstGeom>
          <a:noFill/>
        </p:spPr>
        <p:txBody>
          <a:bodyPr wrap="square">
            <a:spAutoFit/>
          </a:bodyPr>
          <a:lstStyle/>
          <a:p>
            <a:pPr algn="l"/>
            <a:r>
              <a:rPr sz="1100" b="1">
                <a:solidFill>
                  <a:srgbClr val="7A664B"/>
                </a:solidFill>
                <a:latin typeface="Aptos"/>
              </a:rPr>
              <a:t>Still out of scope</a:t>
            </a:r>
          </a:p>
        </p:txBody>
      </p:sp>
      <p:sp>
        <p:nvSpPr>
          <p:cNvPr id="10" name="TextBox 9"/>
          <p:cNvSpPr txBox="1"/>
          <p:nvPr/>
        </p:nvSpPr>
        <p:spPr>
          <a:xfrm>
            <a:off x="804672" y="4050792"/>
            <a:ext cx="3044952" cy="1362455"/>
          </a:xfrm>
          <a:prstGeom prst="rect">
            <a:avLst/>
          </a:prstGeom>
          <a:noFill/>
        </p:spPr>
        <p:txBody>
          <a:bodyPr wrap="square">
            <a:spAutoFit/>
          </a:bodyPr>
          <a:lstStyle/>
          <a:p>
            <a:pPr>
              <a:spcAft>
                <a:spcPts val="600"/>
              </a:spcAft>
              <a:defRPr sz="1400">
                <a:solidFill>
                  <a:srgbClr val="23201C"/>
                </a:solidFill>
                <a:latin typeface="Aptos"/>
              </a:defRPr>
            </a:pPr>
            <a:r>
              <a:t>Production authentication and reviewer case management</a:t>
            </a:r>
          </a:p>
          <a:p>
            <a:pPr>
              <a:spcAft>
                <a:spcPts val="600"/>
              </a:spcAft>
              <a:defRPr sz="1400">
                <a:solidFill>
                  <a:srgbClr val="23201C"/>
                </a:solidFill>
                <a:latin typeface="Aptos"/>
              </a:defRPr>
            </a:pPr>
            <a:r>
              <a:t>Full persistence and operational analytics</a:t>
            </a:r>
          </a:p>
          <a:p>
            <a:pPr>
              <a:spcAft>
                <a:spcPts val="600"/>
              </a:spcAft>
              <a:defRPr sz="1400">
                <a:solidFill>
                  <a:srgbClr val="23201C"/>
                </a:solidFill>
                <a:latin typeface="Aptos"/>
              </a:defRPr>
            </a:pPr>
            <a:r>
              <a:t>Public deployment claims beyond local validation</a:t>
            </a:r>
          </a:p>
        </p:txBody>
      </p:sp>
      <p:sp>
        <p:nvSpPr>
          <p:cNvPr id="11" name="Rounded Rectangle 10"/>
          <p:cNvSpPr/>
          <p:nvPr/>
        </p:nvSpPr>
        <p:spPr>
          <a:xfrm>
            <a:off x="4297680" y="1536192"/>
            <a:ext cx="31546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ndidate-lab.png"/>
          <p:cNvPicPr>
            <a:picLocks noChangeAspect="1"/>
          </p:cNvPicPr>
          <p:nvPr/>
        </p:nvPicPr>
        <p:blipFill>
          <a:blip r:embed="rId2"/>
          <a:stretch>
            <a:fillRect/>
          </a:stretch>
        </p:blipFill>
        <p:spPr>
          <a:xfrm>
            <a:off x="4485132" y="1581912"/>
            <a:ext cx="2779776" cy="1737360"/>
          </a:xfrm>
          <a:prstGeom prst="rect">
            <a:avLst/>
          </a:prstGeom>
        </p:spPr>
      </p:pic>
      <p:sp>
        <p:nvSpPr>
          <p:cNvPr id="13" name="Rounded Rectangle 12"/>
          <p:cNvSpPr/>
          <p:nvPr/>
        </p:nvSpPr>
        <p:spPr>
          <a:xfrm>
            <a:off x="7973568" y="1536192"/>
            <a:ext cx="31546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rket-studio.png"/>
          <p:cNvPicPr>
            <a:picLocks noChangeAspect="1"/>
          </p:cNvPicPr>
          <p:nvPr/>
        </p:nvPicPr>
        <p:blipFill>
          <a:blip r:embed="rId3"/>
          <a:stretch>
            <a:fillRect/>
          </a:stretch>
        </p:blipFill>
        <p:spPr>
          <a:xfrm>
            <a:off x="8161020" y="1581912"/>
            <a:ext cx="2779776" cy="1737360"/>
          </a:xfrm>
          <a:prstGeom prst="rect">
            <a:avLst/>
          </a:prstGeom>
        </p:spPr>
      </p:pic>
      <p:sp>
        <p:nvSpPr>
          <p:cNvPr id="15" name="Rounded Rectangle 14"/>
          <p:cNvSpPr/>
          <p:nvPr/>
        </p:nvSpPr>
        <p:spPr>
          <a:xfrm>
            <a:off x="4297680" y="3749039"/>
            <a:ext cx="31546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athway-planner.png"/>
          <p:cNvPicPr>
            <a:picLocks noChangeAspect="1"/>
          </p:cNvPicPr>
          <p:nvPr/>
        </p:nvPicPr>
        <p:blipFill>
          <a:blip r:embed="rId4"/>
          <a:stretch>
            <a:fillRect/>
          </a:stretch>
        </p:blipFill>
        <p:spPr>
          <a:xfrm>
            <a:off x="4485132" y="3794759"/>
            <a:ext cx="2779776" cy="1737360"/>
          </a:xfrm>
          <a:prstGeom prst="rect">
            <a:avLst/>
          </a:prstGeom>
        </p:spPr>
      </p:pic>
      <p:sp>
        <p:nvSpPr>
          <p:cNvPr id="17" name="Rounded Rectangle 16"/>
          <p:cNvSpPr/>
          <p:nvPr/>
        </p:nvSpPr>
        <p:spPr>
          <a:xfrm>
            <a:off x="7973568" y="3749039"/>
            <a:ext cx="31546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rp-bridge.png"/>
          <p:cNvPicPr>
            <a:picLocks noChangeAspect="1"/>
          </p:cNvPicPr>
          <p:nvPr/>
        </p:nvPicPr>
        <p:blipFill>
          <a:blip r:embed="rId5"/>
          <a:stretch>
            <a:fillRect/>
          </a:stretch>
        </p:blipFill>
        <p:spPr>
          <a:xfrm>
            <a:off x="8161020" y="3794759"/>
            <a:ext cx="2779776" cy="1737360"/>
          </a:xfrm>
          <a:prstGeom prst="rect">
            <a:avLst/>
          </a:prstGeom>
        </p:spPr>
      </p:pic>
      <p:sp>
        <p:nvSpPr>
          <p:cNvPr id="19" name="TextBox 18"/>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Snapshots: Candidate Lab, Market Studio, Pathway Planner, ERP Bridge from current local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7</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Why Z.AI GLM is central</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Address judging eligibility and technical intent directly.</a:t>
            </a:r>
          </a:p>
        </p:txBody>
      </p:sp>
      <p:sp>
        <p:nvSpPr>
          <p:cNvPr id="5" name="Rounded Rectangle 4"/>
          <p:cNvSpPr/>
          <p:nvPr/>
        </p:nvSpPr>
        <p:spPr>
          <a:xfrm>
            <a:off x="640080" y="1508760"/>
            <a:ext cx="10972800" cy="448056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2377440"/>
            <a:ext cx="173736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2578608"/>
            <a:ext cx="1517904" cy="411480"/>
          </a:xfrm>
          <a:prstGeom prst="rect">
            <a:avLst/>
          </a:prstGeom>
          <a:noFill/>
        </p:spPr>
        <p:txBody>
          <a:bodyPr wrap="square">
            <a:spAutoFit/>
          </a:bodyPr>
          <a:lstStyle/>
          <a:p>
            <a:pPr algn="l"/>
            <a:r>
              <a:rPr sz="1600" b="1">
                <a:solidFill>
                  <a:srgbClr val="2D2A26"/>
                </a:solidFill>
                <a:latin typeface="Aptos"/>
              </a:rPr>
              <a:t>Deterministic context</a:t>
            </a:r>
          </a:p>
        </p:txBody>
      </p:sp>
      <p:sp>
        <p:nvSpPr>
          <p:cNvPr id="8" name="TextBox 7"/>
          <p:cNvSpPr txBox="1"/>
          <p:nvPr/>
        </p:nvSpPr>
        <p:spPr>
          <a:xfrm>
            <a:off x="978407" y="2980944"/>
            <a:ext cx="1517904" cy="1325880"/>
          </a:xfrm>
          <a:prstGeom prst="rect">
            <a:avLst/>
          </a:prstGeom>
          <a:noFill/>
        </p:spPr>
        <p:txBody>
          <a:bodyPr wrap="square">
            <a:spAutoFit/>
          </a:bodyPr>
          <a:lstStyle/>
          <a:p>
            <a:pPr algn="l"/>
            <a:r>
              <a:rPr sz="1200" b="0">
                <a:solidFill>
                  <a:srgbClr val="6B655E"/>
                </a:solidFill>
                <a:latin typeface="Aptos"/>
              </a:rPr>
              <a:t>Scoring, thresholds, missing-input handling, and wage/access logic remain in code.</a:t>
            </a:r>
          </a:p>
        </p:txBody>
      </p:sp>
      <p:sp>
        <p:nvSpPr>
          <p:cNvPr id="9" name="Rounded Rectangle 8"/>
          <p:cNvSpPr/>
          <p:nvPr/>
        </p:nvSpPr>
        <p:spPr>
          <a:xfrm>
            <a:off x="3154680" y="2377440"/>
            <a:ext cx="173736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4408" y="2578608"/>
            <a:ext cx="1517904" cy="411480"/>
          </a:xfrm>
          <a:prstGeom prst="rect">
            <a:avLst/>
          </a:prstGeom>
          <a:noFill/>
        </p:spPr>
        <p:txBody>
          <a:bodyPr wrap="square">
            <a:spAutoFit/>
          </a:bodyPr>
          <a:lstStyle/>
          <a:p>
            <a:pPr algn="l"/>
            <a:r>
              <a:rPr sz="1600" b="1">
                <a:solidFill>
                  <a:srgbClr val="2D2A26"/>
                </a:solidFill>
                <a:latin typeface="Aptos"/>
              </a:rPr>
              <a:t>Prompt builder</a:t>
            </a:r>
          </a:p>
        </p:txBody>
      </p:sp>
      <p:sp>
        <p:nvSpPr>
          <p:cNvPr id="11" name="TextBox 10"/>
          <p:cNvSpPr txBox="1"/>
          <p:nvPr/>
        </p:nvSpPr>
        <p:spPr>
          <a:xfrm>
            <a:off x="3264408" y="2980944"/>
            <a:ext cx="1517904" cy="1325880"/>
          </a:xfrm>
          <a:prstGeom prst="rect">
            <a:avLst/>
          </a:prstGeom>
          <a:noFill/>
        </p:spPr>
        <p:txBody>
          <a:bodyPr wrap="square">
            <a:spAutoFit/>
          </a:bodyPr>
          <a:lstStyle/>
          <a:p>
            <a:pPr algn="l"/>
            <a:r>
              <a:rPr sz="1200" b="0">
                <a:solidFill>
                  <a:srgbClr val="6B655E"/>
                </a:solidFill>
                <a:latin typeface="Aptos"/>
              </a:rPr>
              <a:t>Bounded JSON evidence is passed forward so the model explains a structured decision problem.</a:t>
            </a:r>
          </a:p>
        </p:txBody>
      </p:sp>
      <p:sp>
        <p:nvSpPr>
          <p:cNvPr id="12" name="Rounded Rectangle 11"/>
          <p:cNvSpPr/>
          <p:nvPr/>
        </p:nvSpPr>
        <p:spPr>
          <a:xfrm>
            <a:off x="5440680" y="2377440"/>
            <a:ext cx="173736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0408" y="2578608"/>
            <a:ext cx="1517904" cy="411480"/>
          </a:xfrm>
          <a:prstGeom prst="rect">
            <a:avLst/>
          </a:prstGeom>
          <a:noFill/>
        </p:spPr>
        <p:txBody>
          <a:bodyPr wrap="square">
            <a:spAutoFit/>
          </a:bodyPr>
          <a:lstStyle/>
          <a:p>
            <a:pPr algn="l"/>
            <a:r>
              <a:rPr sz="1600" b="1">
                <a:solidFill>
                  <a:srgbClr val="2D2A26"/>
                </a:solidFill>
                <a:latin typeface="Aptos"/>
              </a:rPr>
              <a:t>Z.AI GLM provider</a:t>
            </a:r>
          </a:p>
        </p:txBody>
      </p:sp>
      <p:sp>
        <p:nvSpPr>
          <p:cNvPr id="14" name="TextBox 13"/>
          <p:cNvSpPr txBox="1"/>
          <p:nvPr/>
        </p:nvSpPr>
        <p:spPr>
          <a:xfrm>
            <a:off x="5550408" y="2980944"/>
            <a:ext cx="1517904" cy="1325880"/>
          </a:xfrm>
          <a:prstGeom prst="rect">
            <a:avLst/>
          </a:prstGeom>
          <a:noFill/>
        </p:spPr>
        <p:txBody>
          <a:bodyPr wrap="square">
            <a:spAutoFit/>
          </a:bodyPr>
          <a:lstStyle/>
          <a:p>
            <a:pPr algn="l"/>
            <a:r>
              <a:rPr sz="1200" b="0">
                <a:solidFill>
                  <a:srgbClr val="6B655E"/>
                </a:solidFill>
                <a:latin typeface="Aptos"/>
              </a:rPr>
              <a:t>This is the judged reasoning path in the shipped product flow.</a:t>
            </a:r>
          </a:p>
        </p:txBody>
      </p:sp>
      <p:sp>
        <p:nvSpPr>
          <p:cNvPr id="15" name="Rounded Rectangle 14"/>
          <p:cNvSpPr/>
          <p:nvPr/>
        </p:nvSpPr>
        <p:spPr>
          <a:xfrm>
            <a:off x="7726679" y="2377440"/>
            <a:ext cx="173736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36407" y="2578608"/>
            <a:ext cx="1517904" cy="411480"/>
          </a:xfrm>
          <a:prstGeom prst="rect">
            <a:avLst/>
          </a:prstGeom>
          <a:noFill/>
        </p:spPr>
        <p:txBody>
          <a:bodyPr wrap="square">
            <a:spAutoFit/>
          </a:bodyPr>
          <a:lstStyle/>
          <a:p>
            <a:pPr algn="l"/>
            <a:r>
              <a:rPr sz="1600" b="1">
                <a:solidFill>
                  <a:srgbClr val="2D2A26"/>
                </a:solidFill>
                <a:latin typeface="Aptos"/>
              </a:rPr>
              <a:t>Schema validation</a:t>
            </a:r>
          </a:p>
        </p:txBody>
      </p:sp>
      <p:sp>
        <p:nvSpPr>
          <p:cNvPr id="17" name="TextBox 16"/>
          <p:cNvSpPr txBox="1"/>
          <p:nvPr/>
        </p:nvSpPr>
        <p:spPr>
          <a:xfrm>
            <a:off x="7836407" y="2980944"/>
            <a:ext cx="1517904" cy="1325880"/>
          </a:xfrm>
          <a:prstGeom prst="rect">
            <a:avLst/>
          </a:prstGeom>
          <a:noFill/>
        </p:spPr>
        <p:txBody>
          <a:bodyPr wrap="square">
            <a:spAutoFit/>
          </a:bodyPr>
          <a:lstStyle/>
          <a:p>
            <a:pPr algn="l"/>
            <a:r>
              <a:rPr sz="1200" b="0">
                <a:solidFill>
                  <a:srgbClr val="6B655E"/>
                </a:solidFill>
                <a:latin typeface="Aptos"/>
              </a:rPr>
              <a:t>Model output must parse into structured response JSON before the app uses it.</a:t>
            </a:r>
          </a:p>
        </p:txBody>
      </p:sp>
      <p:sp>
        <p:nvSpPr>
          <p:cNvPr id="18" name="Rounded Rectangle 17"/>
          <p:cNvSpPr/>
          <p:nvPr/>
        </p:nvSpPr>
        <p:spPr>
          <a:xfrm>
            <a:off x="10012680" y="2377440"/>
            <a:ext cx="1737360" cy="219456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22407" y="2578608"/>
            <a:ext cx="1517904" cy="411480"/>
          </a:xfrm>
          <a:prstGeom prst="rect">
            <a:avLst/>
          </a:prstGeom>
          <a:noFill/>
        </p:spPr>
        <p:txBody>
          <a:bodyPr wrap="square">
            <a:spAutoFit/>
          </a:bodyPr>
          <a:lstStyle/>
          <a:p>
            <a:pPr algn="l"/>
            <a:r>
              <a:rPr sz="1600" b="1">
                <a:solidFill>
                  <a:srgbClr val="2D2A26"/>
                </a:solidFill>
                <a:latin typeface="Aptos"/>
              </a:rPr>
              <a:t>Dashboard/API consumer</a:t>
            </a:r>
          </a:p>
        </p:txBody>
      </p:sp>
      <p:sp>
        <p:nvSpPr>
          <p:cNvPr id="20" name="TextBox 19"/>
          <p:cNvSpPr txBox="1"/>
          <p:nvPr/>
        </p:nvSpPr>
        <p:spPr>
          <a:xfrm>
            <a:off x="10122407" y="2980944"/>
            <a:ext cx="1517904" cy="1325880"/>
          </a:xfrm>
          <a:prstGeom prst="rect">
            <a:avLst/>
          </a:prstGeom>
          <a:noFill/>
        </p:spPr>
        <p:txBody>
          <a:bodyPr wrap="square">
            <a:spAutoFit/>
          </a:bodyPr>
          <a:lstStyle/>
          <a:p>
            <a:pPr algn="l"/>
            <a:r>
              <a:rPr sz="1200" b="0">
                <a:solidFill>
                  <a:srgbClr val="6B655E"/>
                </a:solidFill>
                <a:latin typeface="Aptos"/>
              </a:rPr>
              <a:t>Reviewers see recommendation, tradeoffs, missing inputs, and pathway steps.</a:t>
            </a:r>
          </a:p>
        </p:txBody>
      </p:sp>
      <p:sp>
        <p:nvSpPr>
          <p:cNvPr id="21" name="Chevron 20"/>
          <p:cNvSpPr/>
          <p:nvPr/>
        </p:nvSpPr>
        <p:spPr>
          <a:xfrm>
            <a:off x="2542032" y="3063240"/>
            <a:ext cx="347472" cy="566928"/>
          </a:xfrm>
          <a:prstGeom prst="chevron">
            <a:avLst/>
          </a:prstGeom>
          <a:solidFill>
            <a:srgbClr val="D6452D"/>
          </a:solidFill>
          <a:ln>
            <a:solidFill>
              <a:srgbClr val="D64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4828032" y="3063240"/>
            <a:ext cx="347472" cy="566928"/>
          </a:xfrm>
          <a:prstGeom prst="chevron">
            <a:avLst/>
          </a:prstGeom>
          <a:solidFill>
            <a:srgbClr val="D6452D"/>
          </a:solidFill>
          <a:ln>
            <a:solidFill>
              <a:srgbClr val="D64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7114032" y="3063240"/>
            <a:ext cx="347472" cy="566928"/>
          </a:xfrm>
          <a:prstGeom prst="chevron">
            <a:avLst/>
          </a:prstGeom>
          <a:solidFill>
            <a:srgbClr val="D6452D"/>
          </a:solidFill>
          <a:ln>
            <a:solidFill>
              <a:srgbClr val="D64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evron 23"/>
          <p:cNvSpPr/>
          <p:nvPr/>
        </p:nvSpPr>
        <p:spPr>
          <a:xfrm>
            <a:off x="9400032" y="3063240"/>
            <a:ext cx="347472" cy="566928"/>
          </a:xfrm>
          <a:prstGeom prst="chevron">
            <a:avLst/>
          </a:prstGeom>
          <a:solidFill>
            <a:srgbClr val="D6452D"/>
          </a:solidFill>
          <a:ln>
            <a:solidFill>
              <a:srgbClr val="D64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8680" y="4892040"/>
            <a:ext cx="10515600" cy="566928"/>
          </a:xfrm>
          <a:prstGeom prst="roundRect">
            <a:avLst/>
          </a:prstGeom>
          <a:solidFill>
            <a:srgbClr val="FFF8EF"/>
          </a:solidFill>
          <a:ln w="12700">
            <a:solidFill>
              <a:srgbClr val="E6C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 y="5084064"/>
            <a:ext cx="10149840" cy="182880"/>
          </a:xfrm>
          <a:prstGeom prst="rect">
            <a:avLst/>
          </a:prstGeom>
          <a:noFill/>
        </p:spPr>
        <p:txBody>
          <a:bodyPr wrap="square">
            <a:spAutoFit/>
          </a:bodyPr>
          <a:lstStyle/>
          <a:p>
            <a:pPr algn="l"/>
            <a:r>
              <a:rPr sz="1400" b="1">
                <a:solidFill>
                  <a:srgbClr val="2D2A26"/>
                </a:solidFill>
                <a:latin typeface="Aptos"/>
              </a:rPr>
              <a:t>No silent model replacement: the optional ILMU route is compatibility infrastructure, not the judged runtime path.</a:t>
            </a:r>
          </a:p>
        </p:txBody>
      </p:sp>
      <p:sp>
        <p:nvSpPr>
          <p:cNvPr id="27" name="TextBox 26"/>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Architecture rule: keep Z.AI GLM central in implementation, narrative, and demo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8</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System architecture and feasibility</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Explain why the prototype is technically coherent and operationally plausible.</a:t>
            </a:r>
          </a:p>
        </p:txBody>
      </p:sp>
      <p:sp>
        <p:nvSpPr>
          <p:cNvPr id="5" name="Rounded Rectangle 4"/>
          <p:cNvSpPr/>
          <p:nvPr/>
        </p:nvSpPr>
        <p:spPr>
          <a:xfrm>
            <a:off x="822960" y="1554480"/>
            <a:ext cx="3840480" cy="804672"/>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682495"/>
            <a:ext cx="1554480" cy="237744"/>
          </a:xfrm>
          <a:prstGeom prst="rect">
            <a:avLst/>
          </a:prstGeom>
          <a:noFill/>
        </p:spPr>
        <p:txBody>
          <a:bodyPr wrap="square">
            <a:spAutoFit/>
          </a:bodyPr>
          <a:lstStyle/>
          <a:p>
            <a:pPr algn="l"/>
            <a:r>
              <a:rPr sz="1600" b="1">
                <a:solidFill>
                  <a:srgbClr val="2D2A26"/>
                </a:solidFill>
                <a:latin typeface="Aptos"/>
              </a:rPr>
              <a:t>FastAPI interface</a:t>
            </a:r>
          </a:p>
        </p:txBody>
      </p:sp>
      <p:sp>
        <p:nvSpPr>
          <p:cNvPr id="7" name="TextBox 6"/>
          <p:cNvSpPr txBox="1"/>
          <p:nvPr/>
        </p:nvSpPr>
        <p:spPr>
          <a:xfrm>
            <a:off x="2606040" y="1682495"/>
            <a:ext cx="1783080" cy="365760"/>
          </a:xfrm>
          <a:prstGeom prst="rect">
            <a:avLst/>
          </a:prstGeom>
          <a:noFill/>
        </p:spPr>
        <p:txBody>
          <a:bodyPr wrap="square">
            <a:spAutoFit/>
          </a:bodyPr>
          <a:lstStyle/>
          <a:p>
            <a:pPr algn="l"/>
            <a:r>
              <a:rPr sz="1200" b="0">
                <a:solidFill>
                  <a:srgbClr val="6B655E"/>
                </a:solidFill>
                <a:latin typeface="Aptos"/>
              </a:rPr>
              <a:t>Dashboard, decision API, resume API, market routes</a:t>
            </a:r>
          </a:p>
        </p:txBody>
      </p:sp>
      <p:sp>
        <p:nvSpPr>
          <p:cNvPr id="8" name="Rounded Rectangle 7"/>
          <p:cNvSpPr/>
          <p:nvPr/>
        </p:nvSpPr>
        <p:spPr>
          <a:xfrm>
            <a:off x="822960" y="2651760"/>
            <a:ext cx="3840480" cy="804672"/>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779776"/>
            <a:ext cx="1554480" cy="237744"/>
          </a:xfrm>
          <a:prstGeom prst="rect">
            <a:avLst/>
          </a:prstGeom>
          <a:noFill/>
        </p:spPr>
        <p:txBody>
          <a:bodyPr wrap="square">
            <a:spAutoFit/>
          </a:bodyPr>
          <a:lstStyle/>
          <a:p>
            <a:pPr algn="l"/>
            <a:r>
              <a:rPr sz="1600" b="1">
                <a:solidFill>
                  <a:srgbClr val="2D2A26"/>
                </a:solidFill>
                <a:latin typeface="Aptos"/>
              </a:rPr>
              <a:t>Decision engine</a:t>
            </a:r>
          </a:p>
        </p:txBody>
      </p:sp>
      <p:sp>
        <p:nvSpPr>
          <p:cNvPr id="10" name="TextBox 9"/>
          <p:cNvSpPr txBox="1"/>
          <p:nvPr/>
        </p:nvSpPr>
        <p:spPr>
          <a:xfrm>
            <a:off x="2606040" y="2779776"/>
            <a:ext cx="1783080" cy="365760"/>
          </a:xfrm>
          <a:prstGeom prst="rect">
            <a:avLst/>
          </a:prstGeom>
          <a:noFill/>
        </p:spPr>
        <p:txBody>
          <a:bodyPr wrap="square">
            <a:spAutoFit/>
          </a:bodyPr>
          <a:lstStyle/>
          <a:p>
            <a:pPr algn="l"/>
            <a:r>
              <a:rPr sz="1200" b="0">
                <a:solidFill>
                  <a:srgbClr val="6B655E"/>
                </a:solidFill>
                <a:latin typeface="Aptos"/>
              </a:rPr>
              <a:t>Deterministic context + provider boundary</a:t>
            </a:r>
          </a:p>
        </p:txBody>
      </p:sp>
      <p:sp>
        <p:nvSpPr>
          <p:cNvPr id="11" name="Rounded Rectangle 10"/>
          <p:cNvSpPr/>
          <p:nvPr/>
        </p:nvSpPr>
        <p:spPr>
          <a:xfrm>
            <a:off x="822960" y="3749039"/>
            <a:ext cx="3840480" cy="804672"/>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877055"/>
            <a:ext cx="1554480" cy="237744"/>
          </a:xfrm>
          <a:prstGeom prst="rect">
            <a:avLst/>
          </a:prstGeom>
          <a:noFill/>
        </p:spPr>
        <p:txBody>
          <a:bodyPr wrap="square">
            <a:spAutoFit/>
          </a:bodyPr>
          <a:lstStyle/>
          <a:p>
            <a:pPr algn="l"/>
            <a:r>
              <a:rPr sz="1600" b="1">
                <a:solidFill>
                  <a:srgbClr val="2D2A26"/>
                </a:solidFill>
                <a:latin typeface="Aptos"/>
              </a:rPr>
              <a:t>Data and services</a:t>
            </a:r>
          </a:p>
        </p:txBody>
      </p:sp>
      <p:sp>
        <p:nvSpPr>
          <p:cNvPr id="13" name="TextBox 12"/>
          <p:cNvSpPr txBox="1"/>
          <p:nvPr/>
        </p:nvSpPr>
        <p:spPr>
          <a:xfrm>
            <a:off x="2606040" y="3877055"/>
            <a:ext cx="1783080" cy="365760"/>
          </a:xfrm>
          <a:prstGeom prst="rect">
            <a:avLst/>
          </a:prstGeom>
          <a:noFill/>
        </p:spPr>
        <p:txBody>
          <a:bodyPr wrap="square">
            <a:spAutoFit/>
          </a:bodyPr>
          <a:lstStyle/>
          <a:p>
            <a:pPr algn="l"/>
            <a:r>
              <a:rPr sz="1200" b="0">
                <a:solidFill>
                  <a:srgbClr val="6B655E"/>
                </a:solidFill>
                <a:latin typeface="Aptos"/>
              </a:rPr>
              <a:t>Resume parsing, wages, hotspots, OJT, wage mobility</a:t>
            </a:r>
          </a:p>
        </p:txBody>
      </p:sp>
      <p:sp>
        <p:nvSpPr>
          <p:cNvPr id="14" name="Rounded Rectangle 13"/>
          <p:cNvSpPr/>
          <p:nvPr/>
        </p:nvSpPr>
        <p:spPr>
          <a:xfrm>
            <a:off x="822960" y="4846320"/>
            <a:ext cx="3840480" cy="804672"/>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974336"/>
            <a:ext cx="1554480" cy="237744"/>
          </a:xfrm>
          <a:prstGeom prst="rect">
            <a:avLst/>
          </a:prstGeom>
          <a:noFill/>
        </p:spPr>
        <p:txBody>
          <a:bodyPr wrap="square">
            <a:spAutoFit/>
          </a:bodyPr>
          <a:lstStyle/>
          <a:p>
            <a:pPr algn="l"/>
            <a:r>
              <a:rPr sz="1600" b="1">
                <a:solidFill>
                  <a:srgbClr val="2D2A26"/>
                </a:solidFill>
                <a:latin typeface="Aptos"/>
              </a:rPr>
              <a:t>Output contracts</a:t>
            </a:r>
          </a:p>
        </p:txBody>
      </p:sp>
      <p:sp>
        <p:nvSpPr>
          <p:cNvPr id="16" name="TextBox 15"/>
          <p:cNvSpPr txBox="1"/>
          <p:nvPr/>
        </p:nvSpPr>
        <p:spPr>
          <a:xfrm>
            <a:off x="2606040" y="4974336"/>
            <a:ext cx="1783080" cy="365760"/>
          </a:xfrm>
          <a:prstGeom prst="rect">
            <a:avLst/>
          </a:prstGeom>
          <a:noFill/>
        </p:spPr>
        <p:txBody>
          <a:bodyPr wrap="square">
            <a:spAutoFit/>
          </a:bodyPr>
          <a:lstStyle/>
          <a:p>
            <a:pPr algn="l"/>
            <a:r>
              <a:rPr sz="1200" b="0">
                <a:solidFill>
                  <a:srgbClr val="6B655E"/>
                </a:solidFill>
                <a:latin typeface="Aptos"/>
              </a:rPr>
              <a:t>Structured JSON, ERP package, observable errors</a:t>
            </a:r>
          </a:p>
        </p:txBody>
      </p:sp>
      <p:sp>
        <p:nvSpPr>
          <p:cNvPr id="17" name="Rounded Rectangle 16"/>
          <p:cNvSpPr/>
          <p:nvPr/>
        </p:nvSpPr>
        <p:spPr>
          <a:xfrm>
            <a:off x="5074920" y="1554480"/>
            <a:ext cx="6355080" cy="452628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1874519"/>
            <a:ext cx="5760720" cy="3840480"/>
          </a:xfrm>
          <a:prstGeom prst="rect">
            <a:avLst/>
          </a:prstGeom>
          <a:noFill/>
        </p:spPr>
        <p:txBody>
          <a:bodyPr wrap="square">
            <a:spAutoFit/>
          </a:bodyPr>
          <a:lstStyle/>
          <a:p>
            <a:pPr>
              <a:spcAft>
                <a:spcPts val="600"/>
              </a:spcAft>
              <a:defRPr sz="1600">
                <a:solidFill>
                  <a:srgbClr val="23201C"/>
                </a:solidFill>
                <a:latin typeface="Aptos"/>
              </a:defRPr>
            </a:pPr>
            <a:r>
              <a:t>Typed request and response models keep the interfaces explicit.</a:t>
            </a:r>
          </a:p>
          <a:p>
            <a:pPr>
              <a:spcAft>
                <a:spcPts val="600"/>
              </a:spcAft>
              <a:defRPr sz="1600">
                <a:solidFill>
                  <a:srgbClr val="23201C"/>
                </a:solidFill>
                <a:latin typeface="Aptos"/>
              </a:defRPr>
            </a:pPr>
            <a:r>
              <a:t>Prompt budgets, token budgets, and upload limits are enforced in code.</a:t>
            </a:r>
          </a:p>
          <a:p>
            <a:pPr>
              <a:spcAft>
                <a:spcPts val="600"/>
              </a:spcAft>
              <a:defRPr sz="1600">
                <a:solidFill>
                  <a:srgbClr val="23201C"/>
                </a:solidFill>
                <a:latin typeface="Aptos"/>
              </a:defRPr>
            </a:pPr>
            <a:r>
              <a:t>Official-data slices are normalized locally for preliminary feasibility.</a:t>
            </a:r>
          </a:p>
          <a:p>
            <a:pPr>
              <a:spcAft>
                <a:spcPts val="600"/>
              </a:spcAft>
              <a:defRPr sz="1600">
                <a:solidFill>
                  <a:srgbClr val="23201C"/>
                </a:solidFill>
                <a:latin typeface="Aptos"/>
              </a:defRPr>
            </a:pPr>
            <a:r>
              <a:t>ERP Bridge packages the same decision output into operational sync-ready JSON.</a:t>
            </a:r>
          </a:p>
          <a:p>
            <a:pPr>
              <a:spcAft>
                <a:spcPts val="600"/>
              </a:spcAft>
              <a:defRPr sz="1600">
                <a:solidFill>
                  <a:srgbClr val="23201C"/>
                </a:solidFill>
                <a:latin typeface="Aptos"/>
              </a:defRPr>
            </a:pPr>
            <a:r>
              <a:t>The architecture reduces screening, matching, spatial, and coordination frictions in one workflow.</a:t>
            </a:r>
          </a:p>
        </p:txBody>
      </p:sp>
      <p:sp>
        <p:nvSpPr>
          <p:cNvPr id="19" name="TextBox 18"/>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Feasibility source: SAD, README, and live prototype implementation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9</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Live demo walkthrough</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Show the prototype rather than only talk about it.</a:t>
            </a:r>
          </a:p>
        </p:txBody>
      </p:sp>
      <p:sp>
        <p:nvSpPr>
          <p:cNvPr id="5" name="TextBox 4"/>
          <p:cNvSpPr txBox="1"/>
          <p:nvPr/>
        </p:nvSpPr>
        <p:spPr>
          <a:xfrm>
            <a:off x="731520" y="1554480"/>
            <a:ext cx="4572000" cy="4480560"/>
          </a:xfrm>
          <a:prstGeom prst="rect">
            <a:avLst/>
          </a:prstGeom>
          <a:noFill/>
        </p:spPr>
        <p:txBody>
          <a:bodyPr wrap="square">
            <a:spAutoFit/>
          </a:bodyPr>
          <a:lstStyle/>
          <a:p>
            <a:pPr>
              <a:spcAft>
                <a:spcPts val="600"/>
              </a:spcAft>
              <a:defRPr sz="1700">
                <a:solidFill>
                  <a:srgbClr val="23201C"/>
                </a:solidFill>
                <a:latin typeface="Aptos"/>
              </a:defRPr>
            </a:pPr>
            <a:r>
              <a:t>Show runtime-ready status and the sample candidate payload.</a:t>
            </a:r>
          </a:p>
          <a:p>
            <a:pPr>
              <a:spcAft>
                <a:spcPts val="600"/>
              </a:spcAft>
              <a:defRPr sz="1700">
                <a:solidFill>
                  <a:srgbClr val="23201C"/>
                </a:solidFill>
                <a:latin typeface="Aptos"/>
              </a:defRPr>
            </a:pPr>
            <a:r>
              <a:t>Parse and apply a resume so judges see structured evidence ingestion.</a:t>
            </a:r>
          </a:p>
          <a:p>
            <a:pPr>
              <a:spcAft>
                <a:spcPts val="600"/>
              </a:spcAft>
              <a:defRPr sz="1700">
                <a:solidFill>
                  <a:srgbClr val="23201C"/>
                </a:solidFill>
                <a:latin typeface="Aptos"/>
              </a:defRPr>
            </a:pPr>
            <a:r>
              <a:t>Refresh market panels for wages, employer demand, accessibility, and OJT.</a:t>
            </a:r>
          </a:p>
          <a:p>
            <a:pPr>
              <a:spcAft>
                <a:spcPts val="600"/>
              </a:spcAft>
              <a:defRPr sz="1700">
                <a:solidFill>
                  <a:srgbClr val="23201C"/>
                </a:solidFill>
                <a:latin typeface="Aptos"/>
              </a:defRPr>
            </a:pPr>
            <a:r>
              <a:t>Pause on the cleaned GIS accessibility figure with numbered hotspots and ranked list.</a:t>
            </a:r>
          </a:p>
          <a:p>
            <a:pPr>
              <a:spcAft>
                <a:spcPts val="600"/>
              </a:spcAft>
              <a:defRPr sz="1700">
                <a:solidFill>
                  <a:srgbClr val="23201C"/>
                </a:solidFill>
                <a:latin typeface="Aptos"/>
              </a:defRPr>
            </a:pPr>
            <a:r>
              <a:t>Run the live Z.AI route and inspect recommendation, tradeoffs, and missing inputs.</a:t>
            </a:r>
          </a:p>
          <a:p>
            <a:pPr>
              <a:spcAft>
                <a:spcPts val="600"/>
              </a:spcAft>
              <a:defRPr sz="1700">
                <a:solidFill>
                  <a:srgbClr val="23201C"/>
                </a:solidFill>
                <a:latin typeface="Aptos"/>
              </a:defRPr>
            </a:pPr>
            <a:r>
              <a:t>Open the raw structured response briefly to prove contract discipline.</a:t>
            </a:r>
          </a:p>
        </p:txBody>
      </p:sp>
      <p:sp>
        <p:nvSpPr>
          <p:cNvPr id="6" name="Rounded Rectangle 5"/>
          <p:cNvSpPr/>
          <p:nvPr/>
        </p:nvSpPr>
        <p:spPr>
          <a:xfrm>
            <a:off x="5532120" y="1508760"/>
            <a:ext cx="5669280" cy="443484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gis-accessibility-panel.png"/>
          <p:cNvPicPr>
            <a:picLocks noChangeAspect="1"/>
          </p:cNvPicPr>
          <p:nvPr/>
        </p:nvPicPr>
        <p:blipFill>
          <a:blip r:embed="rId2"/>
          <a:stretch>
            <a:fillRect/>
          </a:stretch>
        </p:blipFill>
        <p:spPr>
          <a:xfrm>
            <a:off x="7601143" y="1627632"/>
            <a:ext cx="1531232" cy="4160520"/>
          </a:xfrm>
          <a:prstGeom prst="rect">
            <a:avLst/>
          </a:prstGeom>
        </p:spPr>
      </p:pic>
      <p:sp>
        <p:nvSpPr>
          <p:cNvPr id="8" name="TextBox 7"/>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Fallback still image in deck: cleaned GIS accessibility panel from current dashboard build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640080" y="384048"/>
            <a:ext cx="4846320" cy="320040"/>
          </a:xfrm>
          <a:prstGeom prst="rect">
            <a:avLst/>
          </a:prstGeom>
          <a:noFill/>
        </p:spPr>
        <p:txBody>
          <a:bodyPr wrap="square">
            <a:spAutoFit/>
          </a:bodyPr>
          <a:lstStyle/>
          <a:p>
            <a:pPr algn="l"/>
            <a:r>
              <a:rPr sz="1200" b="1">
                <a:solidFill>
                  <a:srgbClr val="7A664B"/>
                </a:solidFill>
                <a:latin typeface="Aptos"/>
              </a:rPr>
              <a:t>Slide 10</a:t>
            </a:r>
          </a:p>
        </p:txBody>
      </p:sp>
      <p:sp>
        <p:nvSpPr>
          <p:cNvPr id="3" name="TextBox 2"/>
          <p:cNvSpPr txBox="1"/>
          <p:nvPr/>
        </p:nvSpPr>
        <p:spPr>
          <a:xfrm>
            <a:off x="640080" y="713232"/>
            <a:ext cx="5303520" cy="1280160"/>
          </a:xfrm>
          <a:prstGeom prst="rect">
            <a:avLst/>
          </a:prstGeom>
          <a:noFill/>
        </p:spPr>
        <p:txBody>
          <a:bodyPr wrap="square">
            <a:spAutoFit/>
          </a:bodyPr>
          <a:lstStyle/>
          <a:p>
            <a:pPr algn="l"/>
            <a:r>
              <a:rPr sz="2800" b="1">
                <a:solidFill>
                  <a:srgbClr val="23201C"/>
                </a:solidFill>
                <a:latin typeface="Aptos Display"/>
              </a:rPr>
              <a:t>Engineering quality and risk control</a:t>
            </a:r>
          </a:p>
        </p:txBody>
      </p:sp>
      <p:sp>
        <p:nvSpPr>
          <p:cNvPr id="4" name="TextBox 3"/>
          <p:cNvSpPr txBox="1"/>
          <p:nvPr/>
        </p:nvSpPr>
        <p:spPr>
          <a:xfrm>
            <a:off x="640080" y="1572768"/>
            <a:ext cx="5303520" cy="640080"/>
          </a:xfrm>
          <a:prstGeom prst="rect">
            <a:avLst/>
          </a:prstGeom>
          <a:noFill/>
        </p:spPr>
        <p:txBody>
          <a:bodyPr wrap="square">
            <a:spAutoFit/>
          </a:bodyPr>
          <a:lstStyle/>
          <a:p>
            <a:pPr algn="l"/>
            <a:r>
              <a:rPr sz="1400" b="0">
                <a:solidFill>
                  <a:srgbClr val="6B655E"/>
                </a:solidFill>
                <a:latin typeface="Aptos"/>
              </a:rPr>
              <a:t>Answer code quality and testing feasibility criteria.</a:t>
            </a:r>
          </a:p>
        </p:txBody>
      </p:sp>
      <p:sp>
        <p:nvSpPr>
          <p:cNvPr id="5" name="Rounded Rectangle 4"/>
          <p:cNvSpPr/>
          <p:nvPr/>
        </p:nvSpPr>
        <p:spPr>
          <a:xfrm>
            <a:off x="640080" y="1463040"/>
            <a:ext cx="3383280" cy="196596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591056"/>
            <a:ext cx="3054096" cy="256032"/>
          </a:xfrm>
          <a:prstGeom prst="rect">
            <a:avLst/>
          </a:prstGeom>
          <a:noFill/>
        </p:spPr>
        <p:txBody>
          <a:bodyPr wrap="square">
            <a:spAutoFit/>
          </a:bodyPr>
          <a:lstStyle/>
          <a:p>
            <a:pPr algn="l"/>
            <a:r>
              <a:rPr sz="1100" b="1">
                <a:solidFill>
                  <a:srgbClr val="7A664B"/>
                </a:solidFill>
                <a:latin typeface="Aptos"/>
              </a:rPr>
              <a:t>Quality controls</a:t>
            </a:r>
          </a:p>
        </p:txBody>
      </p:sp>
      <p:sp>
        <p:nvSpPr>
          <p:cNvPr id="7" name="TextBox 6"/>
          <p:cNvSpPr txBox="1"/>
          <p:nvPr/>
        </p:nvSpPr>
        <p:spPr>
          <a:xfrm>
            <a:off x="804672" y="1901952"/>
            <a:ext cx="3090672" cy="1453896"/>
          </a:xfrm>
          <a:prstGeom prst="rect">
            <a:avLst/>
          </a:prstGeom>
          <a:noFill/>
        </p:spPr>
        <p:txBody>
          <a:bodyPr wrap="square">
            <a:spAutoFit/>
          </a:bodyPr>
          <a:lstStyle/>
          <a:p>
            <a:pPr>
              <a:spcAft>
                <a:spcPts val="600"/>
              </a:spcAft>
              <a:defRPr sz="1400">
                <a:solidFill>
                  <a:srgbClr val="23201C"/>
                </a:solidFill>
                <a:latin typeface="Aptos"/>
              </a:defRPr>
            </a:pPr>
            <a:r>
              <a:t>Typed models and explicit provider boundaries</a:t>
            </a:r>
          </a:p>
          <a:p>
            <a:pPr>
              <a:spcAft>
                <a:spcPts val="600"/>
              </a:spcAft>
              <a:defRPr sz="1400">
                <a:solidFill>
                  <a:srgbClr val="23201C"/>
                </a:solidFill>
                <a:latin typeface="Aptos"/>
              </a:defRPr>
            </a:pPr>
            <a:r>
              <a:t>Provider output validated before use</a:t>
            </a:r>
          </a:p>
          <a:p>
            <a:pPr>
              <a:spcAft>
                <a:spcPts val="600"/>
              </a:spcAft>
              <a:defRPr sz="1400">
                <a:solidFill>
                  <a:srgbClr val="23201C"/>
                </a:solidFill>
                <a:latin typeface="Aptos"/>
              </a:defRPr>
            </a:pPr>
            <a:r>
              <a:t>Malformed or empty model output fails visibly</a:t>
            </a:r>
          </a:p>
        </p:txBody>
      </p:sp>
      <p:sp>
        <p:nvSpPr>
          <p:cNvPr id="8" name="Rounded Rectangle 7"/>
          <p:cNvSpPr/>
          <p:nvPr/>
        </p:nvSpPr>
        <p:spPr>
          <a:xfrm>
            <a:off x="4389120" y="1463040"/>
            <a:ext cx="3383280" cy="196596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591056"/>
            <a:ext cx="3054096" cy="256032"/>
          </a:xfrm>
          <a:prstGeom prst="rect">
            <a:avLst/>
          </a:prstGeom>
          <a:noFill/>
        </p:spPr>
        <p:txBody>
          <a:bodyPr wrap="square">
            <a:spAutoFit/>
          </a:bodyPr>
          <a:lstStyle/>
          <a:p>
            <a:pPr algn="l"/>
            <a:r>
              <a:rPr sz="1100" b="1">
                <a:solidFill>
                  <a:srgbClr val="7A664B"/>
                </a:solidFill>
                <a:latin typeface="Aptos"/>
              </a:rPr>
              <a:t>Test coverage</a:t>
            </a:r>
          </a:p>
        </p:txBody>
      </p:sp>
      <p:sp>
        <p:nvSpPr>
          <p:cNvPr id="10" name="TextBox 9"/>
          <p:cNvSpPr txBox="1"/>
          <p:nvPr/>
        </p:nvSpPr>
        <p:spPr>
          <a:xfrm>
            <a:off x="4553712" y="1901952"/>
            <a:ext cx="3090672" cy="1453896"/>
          </a:xfrm>
          <a:prstGeom prst="rect">
            <a:avLst/>
          </a:prstGeom>
          <a:noFill/>
        </p:spPr>
        <p:txBody>
          <a:bodyPr wrap="square">
            <a:spAutoFit/>
          </a:bodyPr>
          <a:lstStyle/>
          <a:p>
            <a:pPr>
              <a:spcAft>
                <a:spcPts val="600"/>
              </a:spcAft>
              <a:defRPr sz="1400">
                <a:solidFill>
                  <a:srgbClr val="23201C"/>
                </a:solidFill>
                <a:latin typeface="Aptos"/>
              </a:defRPr>
            </a:pPr>
            <a:r>
              <a:t>Happy path and invalid payload routes</a:t>
            </a:r>
          </a:p>
          <a:p>
            <a:pPr>
              <a:spcAft>
                <a:spcPts val="600"/>
              </a:spcAft>
              <a:defRPr sz="1400">
                <a:solidFill>
                  <a:srgbClr val="23201C"/>
                </a:solidFill>
                <a:latin typeface="Aptos"/>
              </a:defRPr>
            </a:pPr>
            <a:r>
              <a:t>OCR fallback and parser warnings</a:t>
            </a:r>
          </a:p>
          <a:p>
            <a:pPr>
              <a:spcAft>
                <a:spcPts val="600"/>
              </a:spcAft>
              <a:defRPr sz="1400">
                <a:solidFill>
                  <a:srgbClr val="23201C"/>
                </a:solidFill>
                <a:latin typeface="Aptos"/>
              </a:defRPr>
            </a:pPr>
            <a:r>
              <a:t>Health/readiness behavior and judged-path guardrails</a:t>
            </a:r>
          </a:p>
        </p:txBody>
      </p:sp>
      <p:sp>
        <p:nvSpPr>
          <p:cNvPr id="11" name="Rounded Rectangle 10"/>
          <p:cNvSpPr/>
          <p:nvPr/>
        </p:nvSpPr>
        <p:spPr>
          <a:xfrm>
            <a:off x="8138160" y="1463040"/>
            <a:ext cx="3383280" cy="196596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591056"/>
            <a:ext cx="3054096" cy="256032"/>
          </a:xfrm>
          <a:prstGeom prst="rect">
            <a:avLst/>
          </a:prstGeom>
          <a:noFill/>
        </p:spPr>
        <p:txBody>
          <a:bodyPr wrap="square">
            <a:spAutoFit/>
          </a:bodyPr>
          <a:lstStyle/>
          <a:p>
            <a:pPr algn="l"/>
            <a:r>
              <a:rPr sz="1100" b="1">
                <a:solidFill>
                  <a:srgbClr val="7A664B"/>
                </a:solidFill>
                <a:latin typeface="Aptos"/>
              </a:rPr>
              <a:t>Observability</a:t>
            </a:r>
          </a:p>
        </p:txBody>
      </p:sp>
      <p:sp>
        <p:nvSpPr>
          <p:cNvPr id="13" name="TextBox 12"/>
          <p:cNvSpPr txBox="1"/>
          <p:nvPr/>
        </p:nvSpPr>
        <p:spPr>
          <a:xfrm>
            <a:off x="8302752" y="1901952"/>
            <a:ext cx="3090672" cy="1453896"/>
          </a:xfrm>
          <a:prstGeom prst="rect">
            <a:avLst/>
          </a:prstGeom>
          <a:noFill/>
        </p:spPr>
        <p:txBody>
          <a:bodyPr wrap="square">
            <a:spAutoFit/>
          </a:bodyPr>
          <a:lstStyle/>
          <a:p>
            <a:pPr>
              <a:spcAft>
                <a:spcPts val="600"/>
              </a:spcAft>
              <a:defRPr sz="1400">
                <a:solidFill>
                  <a:srgbClr val="23201C"/>
                </a:solidFill>
                <a:latin typeface="Aptos"/>
              </a:defRPr>
            </a:pPr>
            <a:r>
              <a:t>Provider usage metrics surfaced</a:t>
            </a:r>
          </a:p>
          <a:p>
            <a:pPr>
              <a:spcAft>
                <a:spcPts val="600"/>
              </a:spcAft>
              <a:defRPr sz="1400">
                <a:solidFill>
                  <a:srgbClr val="23201C"/>
                </a:solidFill>
                <a:latin typeface="Aptos"/>
              </a:defRPr>
            </a:pPr>
            <a:r>
              <a:t>Warnings kept explicit</a:t>
            </a:r>
          </a:p>
          <a:p>
            <a:pPr>
              <a:spcAft>
                <a:spcPts val="600"/>
              </a:spcAft>
              <a:defRPr sz="1400">
                <a:solidFill>
                  <a:srgbClr val="23201C"/>
                </a:solidFill>
                <a:latin typeface="Aptos"/>
              </a:defRPr>
            </a:pPr>
            <a:r>
              <a:t>No silent degradation of judged model path</a:t>
            </a:r>
          </a:p>
        </p:txBody>
      </p:sp>
      <p:sp>
        <p:nvSpPr>
          <p:cNvPr id="14" name="Rounded Rectangle 13"/>
          <p:cNvSpPr/>
          <p:nvPr/>
        </p:nvSpPr>
        <p:spPr>
          <a:xfrm>
            <a:off x="640080" y="3840480"/>
            <a:ext cx="10881360" cy="192024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69080"/>
            <a:ext cx="2194560" cy="228600"/>
          </a:xfrm>
          <a:prstGeom prst="rect">
            <a:avLst/>
          </a:prstGeom>
          <a:noFill/>
        </p:spPr>
        <p:txBody>
          <a:bodyPr wrap="square">
            <a:spAutoFit/>
          </a:bodyPr>
          <a:lstStyle/>
          <a:p>
            <a:pPr algn="l"/>
            <a:r>
              <a:rPr sz="1200" b="1">
                <a:solidFill>
                  <a:srgbClr val="7A664B"/>
                </a:solidFill>
                <a:latin typeface="Aptos"/>
              </a:rPr>
              <a:t>Risk excerpt</a:t>
            </a:r>
          </a:p>
        </p:txBody>
      </p:sp>
      <p:sp>
        <p:nvSpPr>
          <p:cNvPr id="16" name="TextBox 15"/>
          <p:cNvSpPr txBox="1"/>
          <p:nvPr/>
        </p:nvSpPr>
        <p:spPr>
          <a:xfrm>
            <a:off x="914400" y="4407408"/>
            <a:ext cx="2011680" cy="201168"/>
          </a:xfrm>
          <a:prstGeom prst="rect">
            <a:avLst/>
          </a:prstGeom>
          <a:noFill/>
        </p:spPr>
        <p:txBody>
          <a:bodyPr wrap="square">
            <a:spAutoFit/>
          </a:bodyPr>
          <a:lstStyle/>
          <a:p>
            <a:pPr algn="l"/>
            <a:r>
              <a:rPr sz="1300" b="1">
                <a:solidFill>
                  <a:srgbClr val="2D2A26"/>
                </a:solidFill>
                <a:latin typeface="Aptos"/>
              </a:rPr>
              <a:t>Live provider readiness</a:t>
            </a:r>
          </a:p>
        </p:txBody>
      </p:sp>
      <p:sp>
        <p:nvSpPr>
          <p:cNvPr id="17" name="TextBox 16"/>
          <p:cNvSpPr txBox="1"/>
          <p:nvPr/>
        </p:nvSpPr>
        <p:spPr>
          <a:xfrm>
            <a:off x="3127248" y="4407408"/>
            <a:ext cx="914400" cy="201168"/>
          </a:xfrm>
          <a:prstGeom prst="rect">
            <a:avLst/>
          </a:prstGeom>
          <a:noFill/>
        </p:spPr>
        <p:txBody>
          <a:bodyPr wrap="square">
            <a:spAutoFit/>
          </a:bodyPr>
          <a:lstStyle/>
          <a:p>
            <a:pPr algn="l"/>
            <a:r>
              <a:rPr sz="1300" b="1">
                <a:solidFill>
                  <a:srgbClr val="D6452D"/>
                </a:solidFill>
                <a:latin typeface="Aptos"/>
              </a:rPr>
              <a:t>Medium</a:t>
            </a:r>
          </a:p>
        </p:txBody>
      </p:sp>
      <p:sp>
        <p:nvSpPr>
          <p:cNvPr id="18" name="TextBox 17"/>
          <p:cNvSpPr txBox="1"/>
          <p:nvPr/>
        </p:nvSpPr>
        <p:spPr>
          <a:xfrm>
            <a:off x="4160520" y="4407408"/>
            <a:ext cx="6766560" cy="256032"/>
          </a:xfrm>
          <a:prstGeom prst="rect">
            <a:avLst/>
          </a:prstGeom>
          <a:noFill/>
        </p:spPr>
        <p:txBody>
          <a:bodyPr wrap="square">
            <a:spAutoFit/>
          </a:bodyPr>
          <a:lstStyle/>
          <a:p>
            <a:pPr algn="l"/>
            <a:r>
              <a:rPr sz="1300" b="0">
                <a:solidFill>
                  <a:srgbClr val="6B655E"/>
                </a:solidFill>
                <a:latin typeface="Aptos"/>
              </a:rPr>
              <a:t>Validate `/health`, fail visibly, no silent substitution</a:t>
            </a:r>
          </a:p>
        </p:txBody>
      </p:sp>
      <p:sp>
        <p:nvSpPr>
          <p:cNvPr id="19" name="TextBox 18"/>
          <p:cNvSpPr txBox="1"/>
          <p:nvPr/>
        </p:nvSpPr>
        <p:spPr>
          <a:xfrm>
            <a:off x="914400" y="4791456"/>
            <a:ext cx="2011680" cy="201168"/>
          </a:xfrm>
          <a:prstGeom prst="rect">
            <a:avLst/>
          </a:prstGeom>
          <a:noFill/>
        </p:spPr>
        <p:txBody>
          <a:bodyPr wrap="square">
            <a:spAutoFit/>
          </a:bodyPr>
          <a:lstStyle/>
          <a:p>
            <a:pPr algn="l"/>
            <a:r>
              <a:rPr sz="1300" b="1">
                <a:solidFill>
                  <a:srgbClr val="2D2A26"/>
                </a:solidFill>
                <a:latin typeface="Aptos"/>
              </a:rPr>
              <a:t>Data refresh discipline</a:t>
            </a:r>
          </a:p>
        </p:txBody>
      </p:sp>
      <p:sp>
        <p:nvSpPr>
          <p:cNvPr id="20" name="TextBox 19"/>
          <p:cNvSpPr txBox="1"/>
          <p:nvPr/>
        </p:nvSpPr>
        <p:spPr>
          <a:xfrm>
            <a:off x="3127248" y="4791456"/>
            <a:ext cx="914400" cy="201168"/>
          </a:xfrm>
          <a:prstGeom prst="rect">
            <a:avLst/>
          </a:prstGeom>
          <a:noFill/>
        </p:spPr>
        <p:txBody>
          <a:bodyPr wrap="square">
            <a:spAutoFit/>
          </a:bodyPr>
          <a:lstStyle/>
          <a:p>
            <a:pPr algn="l"/>
            <a:r>
              <a:rPr sz="1300" b="1">
                <a:solidFill>
                  <a:srgbClr val="D6452D"/>
                </a:solidFill>
                <a:latin typeface="Aptos"/>
              </a:rPr>
              <a:t>Medium</a:t>
            </a:r>
          </a:p>
        </p:txBody>
      </p:sp>
      <p:sp>
        <p:nvSpPr>
          <p:cNvPr id="21" name="TextBox 20"/>
          <p:cNvSpPr txBox="1"/>
          <p:nvPr/>
        </p:nvSpPr>
        <p:spPr>
          <a:xfrm>
            <a:off x="4160520" y="4791456"/>
            <a:ext cx="6766560" cy="256032"/>
          </a:xfrm>
          <a:prstGeom prst="rect">
            <a:avLst/>
          </a:prstGeom>
          <a:noFill/>
        </p:spPr>
        <p:txBody>
          <a:bodyPr wrap="square">
            <a:spAutoFit/>
          </a:bodyPr>
          <a:lstStyle/>
          <a:p>
            <a:pPr algn="l"/>
            <a:r>
              <a:rPr sz="1300" b="0">
                <a:solidFill>
                  <a:srgbClr val="6B655E"/>
                </a:solidFill>
                <a:latin typeface="Aptos"/>
              </a:rPr>
              <a:t>Use bounded official-data slices and document refresh path</a:t>
            </a:r>
          </a:p>
        </p:txBody>
      </p:sp>
      <p:sp>
        <p:nvSpPr>
          <p:cNvPr id="22" name="TextBox 21"/>
          <p:cNvSpPr txBox="1"/>
          <p:nvPr/>
        </p:nvSpPr>
        <p:spPr>
          <a:xfrm>
            <a:off x="914400" y="5175504"/>
            <a:ext cx="2011680" cy="201168"/>
          </a:xfrm>
          <a:prstGeom prst="rect">
            <a:avLst/>
          </a:prstGeom>
          <a:noFill/>
        </p:spPr>
        <p:txBody>
          <a:bodyPr wrap="square">
            <a:spAutoFit/>
          </a:bodyPr>
          <a:lstStyle/>
          <a:p>
            <a:pPr algn="l"/>
            <a:r>
              <a:rPr sz="1300" b="1">
                <a:solidFill>
                  <a:srgbClr val="2D2A26"/>
                </a:solidFill>
                <a:latin typeface="Aptos"/>
              </a:rPr>
              <a:t>Submission packaging quality</a:t>
            </a:r>
          </a:p>
        </p:txBody>
      </p:sp>
      <p:sp>
        <p:nvSpPr>
          <p:cNvPr id="23" name="TextBox 22"/>
          <p:cNvSpPr txBox="1"/>
          <p:nvPr/>
        </p:nvSpPr>
        <p:spPr>
          <a:xfrm>
            <a:off x="3127248" y="5175504"/>
            <a:ext cx="914400" cy="201168"/>
          </a:xfrm>
          <a:prstGeom prst="rect">
            <a:avLst/>
          </a:prstGeom>
          <a:noFill/>
        </p:spPr>
        <p:txBody>
          <a:bodyPr wrap="square">
            <a:spAutoFit/>
          </a:bodyPr>
          <a:lstStyle/>
          <a:p>
            <a:pPr algn="l"/>
            <a:r>
              <a:rPr sz="1300" b="1">
                <a:solidFill>
                  <a:srgbClr val="D6452D"/>
                </a:solidFill>
                <a:latin typeface="Aptos"/>
              </a:rPr>
              <a:t>Low-Med</a:t>
            </a:r>
          </a:p>
        </p:txBody>
      </p:sp>
      <p:sp>
        <p:nvSpPr>
          <p:cNvPr id="24" name="TextBox 23"/>
          <p:cNvSpPr txBox="1"/>
          <p:nvPr/>
        </p:nvSpPr>
        <p:spPr>
          <a:xfrm>
            <a:off x="4160520" y="5175504"/>
            <a:ext cx="6766560" cy="256032"/>
          </a:xfrm>
          <a:prstGeom prst="rect">
            <a:avLst/>
          </a:prstGeom>
          <a:noFill/>
        </p:spPr>
        <p:txBody>
          <a:bodyPr wrap="square">
            <a:spAutoFit/>
          </a:bodyPr>
          <a:lstStyle/>
          <a:p>
            <a:pPr algn="l"/>
            <a:r>
              <a:rPr sz="1300" b="0">
                <a:solidFill>
                  <a:srgbClr val="6B655E"/>
                </a:solidFill>
                <a:latin typeface="Aptos"/>
              </a:rPr>
              <a:t>Keep PRD, SAD, QATD, repo, deck, and video aligned</a:t>
            </a:r>
          </a:p>
        </p:txBody>
      </p:sp>
      <p:sp>
        <p:nvSpPr>
          <p:cNvPr id="25" name="TextBox 24"/>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Validation evidence: pytest route tests, provider parsing, OCR fallback, and documented QATD risk controls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ounded Rectangle 1"/>
          <p:cNvSpPr/>
          <p:nvPr/>
        </p:nvSpPr>
        <p:spPr>
          <a:xfrm>
            <a:off x="411480" y="411480"/>
            <a:ext cx="11338560" cy="5989320"/>
          </a:xfrm>
          <a:prstGeom prst="roundRect">
            <a:avLst/>
          </a:prstGeom>
          <a:solidFill>
            <a:srgbClr val="FFFCF7"/>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749808"/>
            <a:ext cx="4937760" cy="292608"/>
          </a:xfrm>
          <a:prstGeom prst="rect">
            <a:avLst/>
          </a:prstGeom>
          <a:noFill/>
        </p:spPr>
        <p:txBody>
          <a:bodyPr wrap="square">
            <a:spAutoFit/>
          </a:bodyPr>
          <a:lstStyle/>
          <a:p>
            <a:pPr algn="l"/>
            <a:r>
              <a:rPr sz="1200" b="1">
                <a:solidFill>
                  <a:srgbClr val="7A664B"/>
                </a:solidFill>
                <a:latin typeface="Aptos"/>
              </a:rPr>
              <a:t>Closing</a:t>
            </a:r>
          </a:p>
        </p:txBody>
      </p:sp>
      <p:sp>
        <p:nvSpPr>
          <p:cNvPr id="4" name="TextBox 3"/>
          <p:cNvSpPr txBox="1"/>
          <p:nvPr/>
        </p:nvSpPr>
        <p:spPr>
          <a:xfrm>
            <a:off x="777240" y="1024128"/>
            <a:ext cx="5120640" cy="960120"/>
          </a:xfrm>
          <a:prstGeom prst="rect">
            <a:avLst/>
          </a:prstGeom>
          <a:noFill/>
        </p:spPr>
        <p:txBody>
          <a:bodyPr wrap="square">
            <a:spAutoFit/>
          </a:bodyPr>
          <a:lstStyle/>
          <a:p>
            <a:pPr algn="l"/>
            <a:r>
              <a:rPr sz="2600" b="1">
                <a:solidFill>
                  <a:srgbClr val="23201C"/>
                </a:solidFill>
                <a:latin typeface="Aptos Display"/>
              </a:rPr>
              <a:t>Feasible prototype, honest scope, submission-ready structure</a:t>
            </a:r>
          </a:p>
        </p:txBody>
      </p:sp>
      <p:sp>
        <p:nvSpPr>
          <p:cNvPr id="5" name="TextBox 4"/>
          <p:cNvSpPr txBox="1"/>
          <p:nvPr/>
        </p:nvSpPr>
        <p:spPr>
          <a:xfrm>
            <a:off x="777240" y="1965960"/>
            <a:ext cx="4937760" cy="2651760"/>
          </a:xfrm>
          <a:prstGeom prst="rect">
            <a:avLst/>
          </a:prstGeom>
          <a:noFill/>
        </p:spPr>
        <p:txBody>
          <a:bodyPr wrap="square">
            <a:spAutoFit/>
          </a:bodyPr>
          <a:lstStyle/>
          <a:p>
            <a:pPr>
              <a:spcAft>
                <a:spcPts val="600"/>
              </a:spcAft>
              <a:defRPr sz="1700">
                <a:solidFill>
                  <a:srgbClr val="23201C"/>
                </a:solidFill>
                <a:latin typeface="Aptos"/>
              </a:defRPr>
            </a:pPr>
            <a:r>
              <a:t>ASEM Talint fits Domain 2 because it supports economically meaningful pathway decisions.</a:t>
            </a:r>
          </a:p>
          <a:p>
            <a:pPr>
              <a:spcAft>
                <a:spcPts val="600"/>
              </a:spcAft>
              <a:defRPr sz="1700">
                <a:solidFill>
                  <a:srgbClr val="23201C"/>
                </a:solidFill>
                <a:latin typeface="Aptos"/>
              </a:defRPr>
            </a:pPr>
            <a:r>
              <a:t>Z.AI GLM remains central in the product, architecture, and demo narrative.</a:t>
            </a:r>
          </a:p>
          <a:p>
            <a:pPr>
              <a:spcAft>
                <a:spcPts val="600"/>
              </a:spcAft>
              <a:defRPr sz="1700">
                <a:solidFill>
                  <a:srgbClr val="23201C"/>
                </a:solidFill>
                <a:latin typeface="Aptos"/>
              </a:defRPr>
            </a:pPr>
            <a:r>
              <a:t>PRD, SAD, QATD, repository, deck, and video runbook are structured for preliminary submission.</a:t>
            </a:r>
          </a:p>
          <a:p>
            <a:pPr>
              <a:spcAft>
                <a:spcPts val="600"/>
              </a:spcAft>
              <a:defRPr sz="1700">
                <a:solidFill>
                  <a:srgbClr val="23201C"/>
                </a:solidFill>
                <a:latin typeface="Aptos"/>
              </a:defRPr>
            </a:pPr>
            <a:r>
              <a:t>Repository: github.com/khaisernong/ASEM-Talint</a:t>
            </a:r>
          </a:p>
        </p:txBody>
      </p:sp>
      <p:sp>
        <p:nvSpPr>
          <p:cNvPr id="6" name="Rounded Rectangle 5"/>
          <p:cNvSpPr/>
          <p:nvPr/>
        </p:nvSpPr>
        <p:spPr>
          <a:xfrm>
            <a:off x="5897880" y="868680"/>
            <a:ext cx="24688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home.png"/>
          <p:cNvPicPr>
            <a:picLocks noChangeAspect="1"/>
          </p:cNvPicPr>
          <p:nvPr/>
        </p:nvPicPr>
        <p:blipFill>
          <a:blip r:embed="rId2"/>
          <a:stretch>
            <a:fillRect/>
          </a:stretch>
        </p:blipFill>
        <p:spPr>
          <a:xfrm>
            <a:off x="5934456" y="1034415"/>
            <a:ext cx="2395728" cy="1497330"/>
          </a:xfrm>
          <a:prstGeom prst="rect">
            <a:avLst/>
          </a:prstGeom>
        </p:spPr>
      </p:pic>
      <p:sp>
        <p:nvSpPr>
          <p:cNvPr id="8" name="Rounded Rectangle 7"/>
          <p:cNvSpPr/>
          <p:nvPr/>
        </p:nvSpPr>
        <p:spPr>
          <a:xfrm>
            <a:off x="8503920" y="868680"/>
            <a:ext cx="24688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ndidate-lab.png"/>
          <p:cNvPicPr>
            <a:picLocks noChangeAspect="1"/>
          </p:cNvPicPr>
          <p:nvPr/>
        </p:nvPicPr>
        <p:blipFill>
          <a:blip r:embed="rId3"/>
          <a:stretch>
            <a:fillRect/>
          </a:stretch>
        </p:blipFill>
        <p:spPr>
          <a:xfrm>
            <a:off x="8540496" y="1034415"/>
            <a:ext cx="2395728" cy="1497330"/>
          </a:xfrm>
          <a:prstGeom prst="rect">
            <a:avLst/>
          </a:prstGeom>
        </p:spPr>
      </p:pic>
      <p:sp>
        <p:nvSpPr>
          <p:cNvPr id="10" name="Rounded Rectangle 9"/>
          <p:cNvSpPr/>
          <p:nvPr/>
        </p:nvSpPr>
        <p:spPr>
          <a:xfrm>
            <a:off x="5897880" y="2880360"/>
            <a:ext cx="24688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ashboard-gis-accessibility-panel.png"/>
          <p:cNvPicPr>
            <a:picLocks noChangeAspect="1"/>
          </p:cNvPicPr>
          <p:nvPr/>
        </p:nvPicPr>
        <p:blipFill>
          <a:blip r:embed="rId4"/>
          <a:stretch>
            <a:fillRect/>
          </a:stretch>
        </p:blipFill>
        <p:spPr>
          <a:xfrm>
            <a:off x="6809246" y="2916936"/>
            <a:ext cx="646146" cy="1755648"/>
          </a:xfrm>
          <a:prstGeom prst="rect">
            <a:avLst/>
          </a:prstGeom>
        </p:spPr>
      </p:pic>
      <p:sp>
        <p:nvSpPr>
          <p:cNvPr id="12" name="Rounded Rectangle 11"/>
          <p:cNvSpPr/>
          <p:nvPr/>
        </p:nvSpPr>
        <p:spPr>
          <a:xfrm>
            <a:off x="8503920" y="2880360"/>
            <a:ext cx="2468880" cy="1828800"/>
          </a:xfrm>
          <a:prstGeom prst="roundRect">
            <a:avLst/>
          </a:prstGeom>
          <a:solidFill>
            <a:srgbClr val="FBF7F1"/>
          </a:solidFill>
          <a:ln w="12700">
            <a:solidFill>
              <a:srgbClr val="DFD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rp-bridge.png"/>
          <p:cNvPicPr>
            <a:picLocks noChangeAspect="1"/>
          </p:cNvPicPr>
          <p:nvPr/>
        </p:nvPicPr>
        <p:blipFill>
          <a:blip r:embed="rId5"/>
          <a:stretch>
            <a:fillRect/>
          </a:stretch>
        </p:blipFill>
        <p:spPr>
          <a:xfrm>
            <a:off x="8540496" y="3046095"/>
            <a:ext cx="2395728" cy="1497330"/>
          </a:xfrm>
          <a:prstGeom prst="rect">
            <a:avLst/>
          </a:prstGeom>
        </p:spPr>
      </p:pic>
      <p:sp>
        <p:nvSpPr>
          <p:cNvPr id="14" name="TextBox 13"/>
          <p:cNvSpPr txBox="1"/>
          <p:nvPr/>
        </p:nvSpPr>
        <p:spPr>
          <a:xfrm>
            <a:off x="777240" y="5138928"/>
            <a:ext cx="5120640" cy="457200"/>
          </a:xfrm>
          <a:prstGeom prst="rect">
            <a:avLst/>
          </a:prstGeom>
          <a:noFill/>
        </p:spPr>
        <p:txBody>
          <a:bodyPr wrap="square">
            <a:spAutoFit/>
          </a:bodyPr>
          <a:lstStyle/>
          <a:p>
            <a:pPr algn="l"/>
            <a:r>
              <a:rPr sz="1600" b="1">
                <a:solidFill>
                  <a:srgbClr val="2D2A26"/>
                </a:solidFill>
                <a:latin typeface="Aptos"/>
              </a:rPr>
              <a:t>ASEM Talint turns candidate placement from a manual review task into an auditable, market-aware, Z.AI-centered decision workflow.</a:t>
            </a:r>
          </a:p>
        </p:txBody>
      </p:sp>
      <p:sp>
        <p:nvSpPr>
          <p:cNvPr id="15" name="TextBox 14"/>
          <p:cNvSpPr txBox="1"/>
          <p:nvPr/>
        </p:nvSpPr>
        <p:spPr>
          <a:xfrm>
            <a:off x="640080" y="6446520"/>
            <a:ext cx="10972800" cy="228600"/>
          </a:xfrm>
          <a:prstGeom prst="rect">
            <a:avLst/>
          </a:prstGeom>
          <a:noFill/>
        </p:spPr>
        <p:txBody>
          <a:bodyPr wrap="square">
            <a:spAutoFit/>
          </a:bodyPr>
          <a:lstStyle/>
          <a:p>
            <a:pPr algn="l"/>
            <a:r>
              <a:rPr sz="900" b="0">
                <a:solidFill>
                  <a:srgbClr val="6B655E"/>
                </a:solidFill>
                <a:latin typeface="Aptos"/>
              </a:rPr>
              <a:t>Team Novum | Ong Khai Sern | Tan Eng Feng | Preliminary round presentation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